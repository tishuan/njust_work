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  <p:sldId id="261" r:id="rId6"/>
    <p:sldId id="262" r:id="rId7"/>
    <p:sldId id="257" r:id="rId8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5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/>
          <p:nvPr/>
        </p:nvSpPr>
        <p:spPr bwMode="hidden">
          <a:xfrm>
            <a:off x="8063251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Freeform 18"/>
          <p:cNvSpPr/>
          <p:nvPr/>
        </p:nvSpPr>
        <p:spPr bwMode="hidden">
          <a:xfrm>
            <a:off x="3492427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Freeform 22"/>
          <p:cNvSpPr/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26"/>
          <p:cNvSpPr/>
          <p:nvPr/>
        </p:nvSpPr>
        <p:spPr bwMode="hidden">
          <a:xfrm>
            <a:off x="7479319" y="4074175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 useBgFill="1">
        <p:nvSpPr>
          <p:cNvPr id="13" name="Freeform 10"/>
          <p:cNvSpPr/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0" y="3429001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1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1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6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7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9" name="Freeform 28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6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4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4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2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7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0" name="Freeform 19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1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5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5" y="6250165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1" y="6250164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57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74606" y="41564"/>
            <a:ext cx="5161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实验四  单周期</a:t>
            </a:r>
            <a:r>
              <a:rPr lang="en-US" altLang="zh-CN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1055" y="626339"/>
            <a:ext cx="95587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一、实验目的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smtClean="0"/>
              <a:t>1</a:t>
            </a:r>
            <a:r>
              <a:rPr lang="en-US" altLang="zh-CN" sz="2000" dirty="0"/>
              <a:t>. </a:t>
            </a:r>
            <a:r>
              <a:rPr lang="zh-CN" altLang="en-US" sz="2000" dirty="0"/>
              <a:t>理解 </a:t>
            </a:r>
            <a:r>
              <a:rPr lang="en-US" altLang="zh-CN" sz="2000" dirty="0"/>
              <a:t>MIPS </a:t>
            </a:r>
            <a:r>
              <a:rPr lang="zh-CN" altLang="en-US" sz="2000" dirty="0"/>
              <a:t>指令结构，理解 </a:t>
            </a:r>
            <a:r>
              <a:rPr lang="en-US" altLang="zh-CN" sz="2000" dirty="0"/>
              <a:t>MIPS </a:t>
            </a:r>
            <a:r>
              <a:rPr lang="zh-CN" altLang="en-US" sz="2000" dirty="0"/>
              <a:t>指令集中常用指令的功能和编码，学会对这些 指令进行归纳分类。 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2</a:t>
            </a:r>
            <a:r>
              <a:rPr lang="en-US" altLang="zh-CN" sz="2000" dirty="0"/>
              <a:t>. </a:t>
            </a:r>
            <a:r>
              <a:rPr lang="zh-CN" altLang="en-US" sz="2000" dirty="0"/>
              <a:t>了解熟悉 </a:t>
            </a:r>
            <a:r>
              <a:rPr lang="en-US" altLang="zh-CN" sz="2000" dirty="0"/>
              <a:t>MIPS </a:t>
            </a:r>
            <a:r>
              <a:rPr lang="zh-CN" altLang="en-US" sz="2000" dirty="0"/>
              <a:t>体系的处理器结构，如延迟槽，哈佛结构的概念。 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   </a:t>
            </a:r>
            <a:r>
              <a:rPr lang="en-US" altLang="zh-CN" sz="2000" dirty="0" smtClean="0"/>
              <a:t>3</a:t>
            </a:r>
            <a:r>
              <a:rPr lang="en-US" altLang="zh-CN" sz="2000" dirty="0"/>
              <a:t>. </a:t>
            </a:r>
            <a:r>
              <a:rPr lang="zh-CN" altLang="en-US" sz="2000" dirty="0"/>
              <a:t>熟悉并掌握单周期 </a:t>
            </a:r>
            <a:r>
              <a:rPr lang="en-US" altLang="zh-CN" sz="2000" dirty="0"/>
              <a:t>CPU </a:t>
            </a:r>
            <a:r>
              <a:rPr lang="zh-CN" altLang="en-US" sz="2000" dirty="0"/>
              <a:t>的原理和设计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</a:t>
            </a:r>
            <a:r>
              <a:rPr lang="zh-CN" altLang="en-US" sz="2000" dirty="0" smtClean="0"/>
              <a:t> </a:t>
            </a:r>
            <a:r>
              <a:rPr lang="en-US" altLang="zh-CN" sz="2000" dirty="0"/>
              <a:t>4. </a:t>
            </a:r>
            <a:r>
              <a:rPr lang="zh-CN" altLang="en-US" sz="2000" dirty="0"/>
              <a:t>进一步加强运用 </a:t>
            </a:r>
            <a:r>
              <a:rPr lang="en-US" altLang="zh-CN" sz="2000" dirty="0" err="1"/>
              <a:t>verilog</a:t>
            </a:r>
            <a:r>
              <a:rPr lang="en-US" altLang="zh-CN" sz="2000" dirty="0"/>
              <a:t> </a:t>
            </a:r>
            <a:r>
              <a:rPr lang="zh-CN" altLang="en-US" sz="2000" dirty="0"/>
              <a:t>语言进行电路设计的能力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</a:t>
            </a:r>
            <a:r>
              <a:rPr lang="zh-CN" altLang="en-US" sz="2000" dirty="0" smtClean="0"/>
              <a:t> </a:t>
            </a:r>
            <a:r>
              <a:rPr lang="en-US" altLang="zh-CN" sz="2000" dirty="0"/>
              <a:t>5. </a:t>
            </a:r>
            <a:r>
              <a:rPr lang="zh-CN" altLang="en-US" sz="2000" dirty="0"/>
              <a:t>为后续设计多周期 </a:t>
            </a:r>
            <a:r>
              <a:rPr lang="en-US" altLang="zh-CN" sz="2000" dirty="0" err="1"/>
              <a:t>cpu</a:t>
            </a:r>
            <a:r>
              <a:rPr lang="en-US" altLang="zh-CN" sz="2000" dirty="0"/>
              <a:t> </a:t>
            </a:r>
            <a:r>
              <a:rPr lang="zh-CN" altLang="en-US" sz="2000" dirty="0"/>
              <a:t>的实验打下基础。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8474" y="2945541"/>
            <a:ext cx="95587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二、实验设备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/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000" dirty="0"/>
              <a:t>装有 </a:t>
            </a:r>
            <a:r>
              <a:rPr lang="en-US" altLang="zh-CN" sz="2000" dirty="0"/>
              <a:t>Xilinx </a:t>
            </a:r>
            <a:r>
              <a:rPr lang="en-US" altLang="zh-CN" sz="2000" dirty="0" err="1"/>
              <a:t>Vivado</a:t>
            </a:r>
            <a:r>
              <a:rPr lang="zh-CN" altLang="en-US" sz="2000" dirty="0"/>
              <a:t>的计算机一台</a:t>
            </a:r>
            <a:endParaRPr lang="en-US" altLang="zh-CN" sz="2000" dirty="0"/>
          </a:p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/>
              <a:t>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/>
              <a:t>LS-CPU-EXB-002</a:t>
            </a:r>
            <a:r>
              <a:rPr lang="zh-CN" altLang="en-US" sz="2000" dirty="0"/>
              <a:t>教学系统实验箱一套</a:t>
            </a:r>
            <a:endParaRPr lang="en-US" altLang="zh-CN" sz="2000" dirty="0"/>
          </a:p>
        </p:txBody>
      </p:sp>
      <p:sp>
        <p:nvSpPr>
          <p:cNvPr id="9" name="文本框 8"/>
          <p:cNvSpPr txBox="1"/>
          <p:nvPr/>
        </p:nvSpPr>
        <p:spPr>
          <a:xfrm>
            <a:off x="518474" y="4107625"/>
            <a:ext cx="114818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三、实验内容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 smtClean="0"/>
              <a:t>    单周期 </a:t>
            </a:r>
            <a:r>
              <a:rPr lang="en-US" altLang="zh-CN" sz="2000" dirty="0"/>
              <a:t>CPU </a:t>
            </a:r>
            <a:r>
              <a:rPr lang="zh-CN" altLang="en-US" sz="2000" dirty="0"/>
              <a:t>就是在 </a:t>
            </a:r>
            <a:r>
              <a:rPr lang="en-US" altLang="zh-CN" sz="2000" dirty="0"/>
              <a:t>1 </a:t>
            </a:r>
            <a:r>
              <a:rPr lang="zh-CN" altLang="en-US" sz="2000" dirty="0"/>
              <a:t>个 </a:t>
            </a:r>
            <a:r>
              <a:rPr lang="en-US" altLang="zh-CN" sz="2000" dirty="0"/>
              <a:t>CPU </a:t>
            </a:r>
            <a:r>
              <a:rPr lang="zh-CN" altLang="en-US" sz="2000" dirty="0"/>
              <a:t>周期内执行完一条指令，执行指令所需的微</a:t>
            </a:r>
            <a:r>
              <a:rPr lang="zh-CN" altLang="en-US" sz="2000" dirty="0" smtClean="0"/>
              <a:t>操作由控 </a:t>
            </a:r>
            <a:r>
              <a:rPr lang="zh-CN" altLang="en-US" sz="2000" dirty="0"/>
              <a:t>制器产生，结构简单，容易</a:t>
            </a:r>
            <a:r>
              <a:rPr lang="zh-CN" altLang="en-US" sz="2000" dirty="0" smtClean="0"/>
              <a:t>设计。</a:t>
            </a:r>
            <a:r>
              <a:rPr lang="zh-CN" altLang="en-US" sz="2000" dirty="0"/>
              <a:t>指令系统可包括如下指令类型： </a:t>
            </a:r>
            <a:endParaRPr lang="en-US" altLang="zh-CN" sz="2000" dirty="0" smtClean="0"/>
          </a:p>
          <a:p>
            <a:r>
              <a:rPr lang="zh-CN" altLang="en-US" sz="2000" dirty="0" smtClean="0"/>
              <a:t>    运算</a:t>
            </a:r>
            <a:r>
              <a:rPr lang="zh-CN" altLang="en-US" sz="2000" dirty="0"/>
              <a:t>类指令：算术运算、逻辑运算、移位运算，如 </a:t>
            </a:r>
            <a:r>
              <a:rPr lang="en-US" altLang="zh-CN" sz="2000" dirty="0"/>
              <a:t>ADD 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SUB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AND</a:t>
            </a:r>
            <a:r>
              <a:rPr lang="zh-CN" altLang="en-US" sz="2000" dirty="0"/>
              <a:t>、</a:t>
            </a:r>
            <a:r>
              <a:rPr lang="en-US" altLang="zh-CN" sz="2000" dirty="0"/>
              <a:t>NOT </a:t>
            </a:r>
            <a:r>
              <a:rPr lang="zh-CN" altLang="en-US" sz="2000" dirty="0"/>
              <a:t>、 </a:t>
            </a:r>
            <a:r>
              <a:rPr lang="en-US" altLang="zh-CN" sz="2000" dirty="0"/>
              <a:t>SLL</a:t>
            </a:r>
            <a:r>
              <a:rPr lang="zh-CN" altLang="en-US" sz="2000" dirty="0"/>
              <a:t>、</a:t>
            </a:r>
            <a:r>
              <a:rPr lang="en-US" altLang="zh-CN" sz="2000" dirty="0" smtClean="0"/>
              <a:t>SRL</a:t>
            </a:r>
            <a:r>
              <a:rPr lang="zh-CN" altLang="en-US" sz="2000" dirty="0" smtClean="0"/>
              <a:t>等等。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 </a:t>
            </a:r>
            <a:r>
              <a:rPr lang="zh-CN" altLang="en-US" sz="2000" dirty="0"/>
              <a:t>传送类指令：寄存器之间的传送</a:t>
            </a:r>
            <a:r>
              <a:rPr lang="zh-CN" altLang="en-US" sz="2000" dirty="0" smtClean="0"/>
              <a:t>、立即</a:t>
            </a:r>
            <a:r>
              <a:rPr lang="zh-CN" altLang="en-US" sz="2000" dirty="0"/>
              <a:t>数传送，如 </a:t>
            </a:r>
            <a:r>
              <a:rPr lang="en-US" altLang="zh-CN" sz="2000" dirty="0"/>
              <a:t>MOVZ</a:t>
            </a:r>
            <a:r>
              <a:rPr lang="zh-CN" altLang="en-US" sz="2000" dirty="0"/>
              <a:t>、</a:t>
            </a:r>
            <a:r>
              <a:rPr lang="en-US" altLang="zh-CN" sz="2000" dirty="0"/>
              <a:t>MOVN</a:t>
            </a:r>
            <a:r>
              <a:rPr lang="zh-CN" altLang="en-US" sz="2000" dirty="0"/>
              <a:t>、</a:t>
            </a:r>
            <a:r>
              <a:rPr lang="en-US" altLang="zh-CN" sz="2000" dirty="0"/>
              <a:t>MFHI </a:t>
            </a:r>
            <a:r>
              <a:rPr lang="zh-CN" altLang="en-US" sz="2000" dirty="0"/>
              <a:t>等等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 访存</a:t>
            </a:r>
            <a:r>
              <a:rPr lang="zh-CN" altLang="en-US" sz="2000" dirty="0"/>
              <a:t>类指令：读存储器指令、写存储器指令，如 </a:t>
            </a:r>
            <a:r>
              <a:rPr lang="en-US" altLang="zh-CN" sz="2000" dirty="0"/>
              <a:t>LB</a:t>
            </a:r>
            <a:r>
              <a:rPr lang="zh-CN" altLang="en-US" sz="2000" dirty="0"/>
              <a:t>、</a:t>
            </a:r>
            <a:r>
              <a:rPr lang="en-US" altLang="zh-CN" sz="2000" dirty="0"/>
              <a:t>LW</a:t>
            </a:r>
            <a:r>
              <a:rPr lang="zh-CN" altLang="en-US" sz="2000" dirty="0"/>
              <a:t>、</a:t>
            </a:r>
            <a:r>
              <a:rPr lang="en-US" altLang="zh-CN" sz="2000" dirty="0"/>
              <a:t>SB</a:t>
            </a:r>
            <a:r>
              <a:rPr lang="zh-CN" altLang="en-US" sz="2000" dirty="0"/>
              <a:t>、</a:t>
            </a:r>
            <a:r>
              <a:rPr lang="en-US" altLang="zh-CN" sz="2000" dirty="0"/>
              <a:t>SW </a:t>
            </a:r>
            <a:r>
              <a:rPr lang="zh-CN" altLang="en-US" sz="2000" dirty="0"/>
              <a:t>等等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zh-CN" altLang="en-US" sz="2000" dirty="0" smtClean="0"/>
              <a:t>   控制</a:t>
            </a:r>
            <a:r>
              <a:rPr lang="zh-CN" altLang="en-US" sz="2000" dirty="0"/>
              <a:t>类指令：无条件转移、有条件转移，如 </a:t>
            </a:r>
            <a:r>
              <a:rPr lang="en-US" altLang="zh-CN" sz="2000" dirty="0"/>
              <a:t>J</a:t>
            </a:r>
            <a:r>
              <a:rPr lang="zh-CN" altLang="en-US" sz="2000" dirty="0"/>
              <a:t>、</a:t>
            </a:r>
            <a:r>
              <a:rPr lang="en-US" altLang="zh-CN" sz="2000" dirty="0"/>
              <a:t>JR</a:t>
            </a:r>
            <a:r>
              <a:rPr lang="zh-CN" altLang="en-US" sz="2000" dirty="0"/>
              <a:t>、</a:t>
            </a:r>
            <a:r>
              <a:rPr lang="en-US" altLang="zh-CN" sz="2000" dirty="0"/>
              <a:t>JAL</a:t>
            </a:r>
            <a:r>
              <a:rPr lang="zh-CN" altLang="en-US" sz="2000" dirty="0"/>
              <a:t>、</a:t>
            </a:r>
            <a:r>
              <a:rPr lang="en-US" altLang="zh-CN" sz="2000" dirty="0"/>
              <a:t>BEQ </a:t>
            </a:r>
            <a:r>
              <a:rPr lang="zh-CN" altLang="en-US" sz="2000" dirty="0"/>
              <a:t>等等。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07550" y="804113"/>
            <a:ext cx="11238807" cy="4892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     设计</a:t>
            </a:r>
            <a:r>
              <a:rPr lang="zh-CN" altLang="en-US" sz="2400" dirty="0"/>
              <a:t>中所有寄存 器和存储器都是异步读同步写的，即读出数据不需要时钟控制，但写入数据需时钟控 制。 故单周期 </a:t>
            </a:r>
            <a:r>
              <a:rPr lang="en-US" altLang="zh-CN" sz="2400" dirty="0"/>
              <a:t>CPU </a:t>
            </a:r>
            <a:r>
              <a:rPr lang="zh-CN" altLang="en-US" sz="2400" dirty="0"/>
              <a:t>的运作即：在一个时钟周期内，根据 </a:t>
            </a:r>
            <a:r>
              <a:rPr lang="en-US" altLang="zh-CN" sz="2400" dirty="0"/>
              <a:t>PC </a:t>
            </a:r>
            <a:r>
              <a:rPr lang="zh-CN" altLang="en-US" sz="2400" dirty="0"/>
              <a:t>值从指令 </a:t>
            </a:r>
            <a:r>
              <a:rPr lang="en-US" altLang="zh-CN" sz="2400" dirty="0"/>
              <a:t>ROM </a:t>
            </a:r>
            <a:r>
              <a:rPr lang="zh-CN" altLang="en-US" sz="2400" dirty="0"/>
              <a:t>中读出相应的 指令，将指令译码后从寄存器堆中读出需要的操作数，送往 </a:t>
            </a:r>
            <a:r>
              <a:rPr lang="en-US" altLang="zh-CN" sz="2400" dirty="0"/>
              <a:t>ALU </a:t>
            </a:r>
            <a:r>
              <a:rPr lang="zh-CN" altLang="en-US" sz="2400" dirty="0"/>
              <a:t>模块，</a:t>
            </a:r>
            <a:r>
              <a:rPr lang="en-US" altLang="zh-CN" sz="2400" dirty="0"/>
              <a:t>ALU </a:t>
            </a:r>
            <a:r>
              <a:rPr lang="zh-CN" altLang="en-US" sz="2400" dirty="0"/>
              <a:t>模块运算 得到结果。 如果是 </a:t>
            </a:r>
            <a:r>
              <a:rPr lang="en-US" altLang="zh-CN" sz="2400" dirty="0"/>
              <a:t>store </a:t>
            </a:r>
            <a:r>
              <a:rPr lang="zh-CN" altLang="en-US" sz="2400" dirty="0"/>
              <a:t>指令，则 </a:t>
            </a:r>
            <a:r>
              <a:rPr lang="en-US" altLang="zh-CN" sz="2400" dirty="0"/>
              <a:t>ALU </a:t>
            </a:r>
            <a:r>
              <a:rPr lang="zh-CN" altLang="en-US" sz="2400" dirty="0"/>
              <a:t>运算结果为数据存储的地址，就向数据 </a:t>
            </a:r>
            <a:r>
              <a:rPr lang="en-US" altLang="zh-CN" sz="2400" dirty="0"/>
              <a:t>RAM </a:t>
            </a:r>
            <a:r>
              <a:rPr lang="zh-CN" altLang="en-US" sz="2400" dirty="0"/>
              <a:t>发出写请 求，在下一个时钟上升沿真正写入到数据存储器。 如果是 </a:t>
            </a:r>
            <a:r>
              <a:rPr lang="en-US" altLang="zh-CN" sz="2400" dirty="0"/>
              <a:t>load </a:t>
            </a:r>
            <a:r>
              <a:rPr lang="zh-CN" altLang="en-US" sz="2400" dirty="0"/>
              <a:t>指令，则 </a:t>
            </a:r>
            <a:r>
              <a:rPr lang="en-US" altLang="zh-CN" sz="2400" dirty="0"/>
              <a:t>ALU </a:t>
            </a:r>
            <a:r>
              <a:rPr lang="zh-CN" altLang="en-US" sz="2400" dirty="0"/>
              <a:t>运算结果为数据存储的地址，根据该值从数据存 </a:t>
            </a:r>
            <a:r>
              <a:rPr lang="en-US" altLang="zh-CN" sz="2400" dirty="0"/>
              <a:t>RAM </a:t>
            </a:r>
            <a:r>
              <a:rPr lang="zh-CN" altLang="en-US" sz="2400" dirty="0"/>
              <a:t>中 读出数据，送往寄存器</a:t>
            </a:r>
            <a:r>
              <a:rPr lang="zh-CN" altLang="en-US" sz="2400" dirty="0" smtClean="0"/>
              <a:t>堆，根据</a:t>
            </a:r>
            <a:r>
              <a:rPr lang="zh-CN" altLang="en-US" sz="2400" dirty="0"/>
              <a:t>目的寄存器发出写请求，在下一个时钟上升沿真正写入 到寄存器堆中。 如果非 </a:t>
            </a:r>
            <a:r>
              <a:rPr lang="en-US" altLang="zh-CN" sz="2400" dirty="0"/>
              <a:t>load/store </a:t>
            </a:r>
            <a:r>
              <a:rPr lang="zh-CN" altLang="en-US" sz="2400" dirty="0"/>
              <a:t>操作，若有写寄存器堆的操作，则直接将 </a:t>
            </a:r>
            <a:r>
              <a:rPr lang="en-US" altLang="zh-CN" sz="2400" dirty="0"/>
              <a:t>ALU </a:t>
            </a:r>
            <a:r>
              <a:rPr lang="zh-CN" altLang="en-US" sz="2400" dirty="0"/>
              <a:t>运算结果送往</a:t>
            </a:r>
            <a:r>
              <a:rPr lang="zh-CN" altLang="en-US" sz="2400" dirty="0" smtClean="0"/>
              <a:t>寄存器堆，根据</a:t>
            </a:r>
            <a:r>
              <a:rPr lang="zh-CN" altLang="en-US" sz="2400" dirty="0"/>
              <a:t>目的寄存器发出写请求，在下一个时钟上升沿真正写入到寄存器堆中。 如果是分支跳转指令，则是需要将结果写入到 </a:t>
            </a:r>
            <a:r>
              <a:rPr lang="en-US" altLang="zh-CN" sz="2400" dirty="0"/>
              <a:t>pc </a:t>
            </a:r>
            <a:r>
              <a:rPr lang="zh-CN" altLang="en-US" sz="2400" dirty="0"/>
              <a:t>寄存器中的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zh-CN" altLang="en-US" sz="2400" dirty="0" smtClean="0"/>
              <a:t>    本</a:t>
            </a:r>
            <a:r>
              <a:rPr lang="zh-CN" altLang="en-US" sz="2400" dirty="0"/>
              <a:t>实验要求：根据提供的 </a:t>
            </a:r>
            <a:r>
              <a:rPr lang="en-US" altLang="zh-CN" sz="2400" dirty="0"/>
              <a:t>32 </a:t>
            </a:r>
            <a:r>
              <a:rPr lang="zh-CN" altLang="en-US" sz="2400" dirty="0"/>
              <a:t>位 </a:t>
            </a:r>
            <a:r>
              <a:rPr lang="en-US" altLang="zh-CN" sz="2400" dirty="0"/>
              <a:t>MIPS </a:t>
            </a:r>
            <a:r>
              <a:rPr lang="zh-CN" altLang="en-US" sz="2400" dirty="0"/>
              <a:t>框架</a:t>
            </a:r>
            <a:r>
              <a:rPr lang="zh-CN" altLang="en-US" sz="2400" dirty="0" smtClean="0"/>
              <a:t>，至少调试</a:t>
            </a:r>
            <a:r>
              <a:rPr lang="zh-CN" altLang="en-US" sz="2400" dirty="0"/>
              <a:t>出 </a:t>
            </a:r>
            <a:r>
              <a:rPr lang="en-US" altLang="zh-CN" sz="2400" dirty="0"/>
              <a:t>5 </a:t>
            </a:r>
            <a:r>
              <a:rPr lang="zh-CN" altLang="en-US" sz="2400" dirty="0"/>
              <a:t>条指令（运算类、传送类、访存类、 控制转移类等）的运行仿真波形，</a:t>
            </a:r>
            <a:r>
              <a:rPr lang="en-US" altLang="zh-CN" sz="2400" dirty="0"/>
              <a:t> </a:t>
            </a:r>
            <a:r>
              <a:rPr lang="zh-CN" altLang="en-US" sz="2400" b="1" dirty="0"/>
              <a:t>不需要上板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57862" y="416778"/>
            <a:ext cx="107982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指令格式：按 </a:t>
            </a:r>
            <a:r>
              <a:rPr lang="en-US" altLang="zh-CN" dirty="0"/>
              <a:t>32 </a:t>
            </a:r>
            <a:r>
              <a:rPr lang="zh-CN" altLang="en-US" dirty="0"/>
              <a:t>位 </a:t>
            </a:r>
            <a:r>
              <a:rPr lang="en-US" altLang="zh-CN" dirty="0"/>
              <a:t>MIPSCPU </a:t>
            </a:r>
            <a:r>
              <a:rPr lang="zh-CN" altLang="en-US" dirty="0"/>
              <a:t>的指令格式</a:t>
            </a:r>
            <a:r>
              <a:rPr lang="en-US" altLang="zh-CN" dirty="0"/>
              <a:t>(</a:t>
            </a:r>
            <a:r>
              <a:rPr lang="zh-CN" altLang="en-US" dirty="0"/>
              <a:t>参考 </a:t>
            </a:r>
            <a:r>
              <a:rPr lang="en-US" altLang="zh-CN" dirty="0"/>
              <a:t>32 </a:t>
            </a:r>
            <a:r>
              <a:rPr lang="zh-CN" altLang="en-US" dirty="0"/>
              <a:t>位 </a:t>
            </a:r>
            <a:r>
              <a:rPr lang="en-US" altLang="zh-CN" dirty="0"/>
              <a:t>MIPSCPU </a:t>
            </a:r>
            <a:r>
              <a:rPr lang="zh-CN" altLang="en-US" dirty="0"/>
              <a:t>指令集规范</a:t>
            </a:r>
            <a:r>
              <a:rPr lang="en-US" altLang="zh-CN" dirty="0"/>
              <a:t>) </a:t>
            </a:r>
            <a:r>
              <a:rPr lang="zh-CN" altLang="en-US" dirty="0"/>
              <a:t>如：</a:t>
            </a:r>
            <a:r>
              <a:rPr lang="en-US" altLang="zh-CN" dirty="0"/>
              <a:t>MIPS32 </a:t>
            </a:r>
            <a:r>
              <a:rPr lang="zh-CN" altLang="en-US" dirty="0"/>
              <a:t>指令的三种格式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r>
              <a:rPr lang="zh-CN" altLang="en-US" dirty="0" smtClean="0"/>
              <a:t> </a:t>
            </a:r>
            <a:r>
              <a:rPr lang="en-US" altLang="zh-CN" dirty="0"/>
              <a:t>R </a:t>
            </a:r>
            <a:r>
              <a:rPr lang="zh-CN" altLang="en-US" dirty="0"/>
              <a:t>类型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974722" y="826365"/>
          <a:ext cx="81280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/>
                <a:gridCol w="1354667"/>
                <a:gridCol w="1354667"/>
                <a:gridCol w="1354667"/>
                <a:gridCol w="1354667"/>
                <a:gridCol w="135466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31-26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25-21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20-16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15-11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10-6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5-0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sa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func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52729" y="1706857"/>
            <a:ext cx="9909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I </a:t>
            </a:r>
            <a:r>
              <a:rPr lang="zh-CN" altLang="en-US" dirty="0"/>
              <a:t>类型：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74722" y="1727328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31-26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25-21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20-16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15-0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immediate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652729" y="2628291"/>
            <a:ext cx="1023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J </a:t>
            </a:r>
            <a:r>
              <a:rPr lang="zh-CN" altLang="en-US" dirty="0"/>
              <a:t>类型：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974722" y="2628291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31-26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25-0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address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13360" y="3529254"/>
            <a:ext cx="1162415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其中， </a:t>
            </a:r>
            <a:r>
              <a:rPr lang="en-US" altLang="zh-CN" sz="2000" dirty="0"/>
              <a:t>op</a:t>
            </a:r>
            <a:r>
              <a:rPr lang="zh-CN" altLang="en-US" sz="2000" dirty="0"/>
              <a:t>：为操作码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r>
              <a:rPr lang="zh-CN" altLang="en-US" sz="2000" dirty="0" smtClean="0"/>
              <a:t> </a:t>
            </a:r>
            <a:r>
              <a:rPr lang="en-US" altLang="zh-CN" sz="2000" dirty="0" err="1"/>
              <a:t>rs</a:t>
            </a:r>
            <a:r>
              <a:rPr lang="zh-CN" altLang="en-US" sz="2000" dirty="0"/>
              <a:t>：为第 </a:t>
            </a:r>
            <a:r>
              <a:rPr lang="en-US" altLang="zh-CN" sz="2000" dirty="0"/>
              <a:t>1 </a:t>
            </a:r>
            <a:r>
              <a:rPr lang="zh-CN" altLang="en-US" sz="2000" dirty="0"/>
              <a:t>个源操作数寄存器，寄存器地址（编号）是 </a:t>
            </a:r>
            <a:r>
              <a:rPr lang="en-US" altLang="zh-CN" sz="2000" dirty="0"/>
              <a:t>00000~11111</a:t>
            </a:r>
            <a:r>
              <a:rPr lang="zh-CN" altLang="en-US" sz="2000" dirty="0"/>
              <a:t>，</a:t>
            </a:r>
            <a:r>
              <a:rPr lang="en-US" altLang="zh-CN" sz="2000" dirty="0"/>
              <a:t>00~1F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r>
              <a:rPr lang="zh-CN" altLang="en-US" sz="2000" dirty="0" smtClean="0"/>
              <a:t> </a:t>
            </a:r>
            <a:r>
              <a:rPr lang="en-US" altLang="zh-CN" sz="2000" dirty="0" err="1"/>
              <a:t>rt</a:t>
            </a:r>
            <a:r>
              <a:rPr lang="zh-CN" altLang="en-US" sz="2000" dirty="0"/>
              <a:t>：为第 </a:t>
            </a:r>
            <a:r>
              <a:rPr lang="en-US" altLang="zh-CN" sz="2000" dirty="0"/>
              <a:t>2 </a:t>
            </a:r>
            <a:r>
              <a:rPr lang="zh-CN" altLang="en-US" sz="2000" dirty="0"/>
              <a:t>个源操作数寄存器，或目的操作数寄存器，寄存器地址（同上）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r>
              <a:rPr lang="zh-CN" altLang="en-US" sz="2000" dirty="0" smtClean="0"/>
              <a:t> </a:t>
            </a:r>
            <a:r>
              <a:rPr lang="en-US" altLang="zh-CN" sz="2000" dirty="0" err="1"/>
              <a:t>rd</a:t>
            </a:r>
            <a:r>
              <a:rPr lang="zh-CN" altLang="en-US" sz="2000" dirty="0"/>
              <a:t>：为目的操作数寄存器，寄存器地址（同上）； </a:t>
            </a:r>
            <a:endParaRPr lang="en-US" altLang="zh-CN" sz="2000" dirty="0" smtClean="0"/>
          </a:p>
          <a:p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sa</a:t>
            </a:r>
            <a:r>
              <a:rPr lang="zh-CN" altLang="en-US" sz="2000" dirty="0"/>
              <a:t>：为位移量（</a:t>
            </a:r>
            <a:r>
              <a:rPr lang="en-US" altLang="zh-CN" sz="2000" dirty="0"/>
              <a:t>shift </a:t>
            </a:r>
            <a:r>
              <a:rPr lang="en-US" altLang="zh-CN" sz="2000" dirty="0" err="1"/>
              <a:t>amt</a:t>
            </a:r>
            <a:r>
              <a:rPr lang="zh-CN" altLang="en-US" sz="2000" dirty="0"/>
              <a:t>），移位指令用于指定移多少位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r>
              <a:rPr lang="zh-CN" altLang="en-US" sz="2000" dirty="0" smtClean="0"/>
              <a:t> </a:t>
            </a:r>
            <a:r>
              <a:rPr lang="en-US" altLang="zh-CN" sz="2000" dirty="0" err="1"/>
              <a:t>func</a:t>
            </a:r>
            <a:r>
              <a:rPr lang="zh-CN" altLang="en-US" sz="2000" dirty="0"/>
              <a:t>：为功能码，在寄存器类型指令中（</a:t>
            </a:r>
            <a:r>
              <a:rPr lang="en-US" altLang="zh-CN" sz="2000" dirty="0"/>
              <a:t>R </a:t>
            </a:r>
            <a:r>
              <a:rPr lang="zh-CN" altLang="en-US" sz="2000" dirty="0"/>
              <a:t>类型）用来指定指令的功能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r>
              <a:rPr lang="zh-CN" altLang="en-US" sz="2000" dirty="0" smtClean="0"/>
              <a:t> </a:t>
            </a:r>
            <a:r>
              <a:rPr lang="en-US" altLang="zh-CN" sz="2000" dirty="0"/>
              <a:t>immediate</a:t>
            </a:r>
            <a:r>
              <a:rPr lang="zh-CN" altLang="en-US" sz="2000" dirty="0"/>
              <a:t>：为 </a:t>
            </a:r>
            <a:r>
              <a:rPr lang="en-US" altLang="zh-CN" sz="2000" dirty="0"/>
              <a:t>16 </a:t>
            </a:r>
            <a:r>
              <a:rPr lang="zh-CN" altLang="en-US" sz="2000" dirty="0"/>
              <a:t>位立即数，用作无符号的逻辑操作数、有符号的算术操作数、数据加载（</a:t>
            </a:r>
            <a:r>
              <a:rPr lang="en-US" altLang="zh-CN" sz="2000" dirty="0" err="1"/>
              <a:t>Laod</a:t>
            </a:r>
            <a:r>
              <a:rPr lang="zh-CN" altLang="en-US" sz="2000" dirty="0"/>
              <a:t>）</a:t>
            </a:r>
            <a:r>
              <a:rPr lang="en-US" altLang="zh-CN" sz="2000" dirty="0"/>
              <a:t>/ </a:t>
            </a:r>
            <a:r>
              <a:rPr lang="zh-CN" altLang="en-US" sz="2000" dirty="0"/>
              <a:t>数据保存（</a:t>
            </a:r>
            <a:r>
              <a:rPr lang="en-US" altLang="zh-CN" sz="2000" dirty="0"/>
              <a:t>Store</a:t>
            </a:r>
            <a:r>
              <a:rPr lang="zh-CN" altLang="en-US" sz="2000" dirty="0"/>
              <a:t>）指令的数据地址字节偏移量和分支指令中相对程序计数器（</a:t>
            </a:r>
            <a:r>
              <a:rPr lang="en-US" altLang="zh-CN" sz="2000" dirty="0"/>
              <a:t>PC</a:t>
            </a:r>
            <a:r>
              <a:rPr lang="zh-CN" altLang="en-US" sz="2000" dirty="0"/>
              <a:t>）的有符号偏移量； </a:t>
            </a:r>
            <a:endParaRPr lang="en-US" altLang="zh-CN" sz="2000" dirty="0" smtClean="0"/>
          </a:p>
          <a:p>
            <a:r>
              <a:rPr lang="en-US" altLang="zh-CN" sz="2000" dirty="0" smtClean="0"/>
              <a:t>address</a:t>
            </a:r>
            <a:r>
              <a:rPr lang="zh-CN" altLang="en-US" sz="2000" dirty="0"/>
              <a:t>：为地址。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7638" y="487895"/>
            <a:ext cx="113444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运算类指令 </a:t>
            </a:r>
            <a:endParaRPr lang="en-US" altLang="zh-CN" sz="2000" dirty="0" smtClean="0"/>
          </a:p>
          <a:p>
            <a:r>
              <a:rPr lang="en-US" altLang="zh-CN" sz="2000" dirty="0" smtClean="0"/>
              <a:t>          add </a:t>
            </a:r>
            <a:r>
              <a:rPr lang="en-US" altLang="zh-CN" sz="2000" dirty="0" err="1"/>
              <a:t>rd</a:t>
            </a:r>
            <a:r>
              <a:rPr lang="en-US" altLang="zh-CN" sz="2000" dirty="0"/>
              <a:t> , </a:t>
            </a:r>
            <a:r>
              <a:rPr lang="en-US" altLang="zh-CN" sz="2000" dirty="0" err="1"/>
              <a:t>rs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rt</a:t>
            </a:r>
            <a:r>
              <a:rPr lang="en-US" altLang="zh-CN" sz="2000" dirty="0"/>
              <a:t> </a:t>
            </a:r>
            <a:r>
              <a:rPr lang="zh-CN" altLang="en-US" sz="2000" dirty="0"/>
              <a:t>（说明：以助记符表示，是汇编指令；以代码表示，是机器指令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r>
              <a:rPr lang="zh-CN" altLang="en-US" sz="2000" dirty="0" smtClean="0"/>
              <a:t>         功能</a:t>
            </a:r>
            <a:r>
              <a:rPr lang="zh-CN" altLang="en-US" sz="2000" dirty="0"/>
              <a:t>：</a:t>
            </a:r>
            <a:r>
              <a:rPr lang="en-US" altLang="zh-CN" sz="2000" dirty="0" err="1"/>
              <a:t>rd←rs</a:t>
            </a:r>
            <a:r>
              <a:rPr lang="en-US" altLang="zh-CN" sz="2000" dirty="0"/>
              <a:t> + </a:t>
            </a:r>
            <a:r>
              <a:rPr lang="en-US" altLang="zh-CN" sz="2000" dirty="0" err="1"/>
              <a:t>rt</a:t>
            </a:r>
            <a:r>
              <a:rPr lang="zh-CN" altLang="en-US" sz="2000" dirty="0"/>
              <a:t>。</a:t>
            </a:r>
            <a:r>
              <a:rPr lang="en-US" altLang="zh-CN" sz="2000" dirty="0"/>
              <a:t>reserved </a:t>
            </a:r>
            <a:r>
              <a:rPr lang="zh-CN" altLang="en-US" sz="2000" dirty="0"/>
              <a:t>为预留部分，即未用，一般填“</a:t>
            </a:r>
            <a:r>
              <a:rPr lang="en-US" altLang="zh-CN" sz="2000" dirty="0"/>
              <a:t>0”</a:t>
            </a:r>
            <a:r>
              <a:rPr lang="zh-CN" altLang="en-US" sz="2000" dirty="0"/>
              <a:t>。</a:t>
            </a:r>
            <a:endParaRPr lang="zh-CN" altLang="en-US" sz="20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393173" y="1596488"/>
          <a:ext cx="81280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000000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 smtClean="0"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(5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 smtClean="0">
                          <a:latin typeface="+mn-ea"/>
                          <a:ea typeface="+mn-ea"/>
                        </a:rPr>
                        <a:t>rt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(5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 smtClean="0">
                          <a:latin typeface="+mn-ea"/>
                          <a:ea typeface="+mn-ea"/>
                        </a:rPr>
                        <a:t>rd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(5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reserved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467638" y="2085658"/>
            <a:ext cx="1134440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传送类指令 </a:t>
            </a:r>
            <a:endParaRPr lang="en-US" altLang="zh-CN" sz="2000" dirty="0" smtClean="0"/>
          </a:p>
          <a:p>
            <a:r>
              <a:rPr lang="en-US" altLang="zh-CN" sz="2000" dirty="0" smtClean="0"/>
              <a:t>          move </a:t>
            </a:r>
            <a:r>
              <a:rPr lang="en-US" altLang="zh-CN" sz="2000" dirty="0" err="1"/>
              <a:t>rd</a:t>
            </a:r>
            <a:r>
              <a:rPr lang="en-US" altLang="zh-CN" sz="2000" dirty="0"/>
              <a:t> , </a:t>
            </a:r>
            <a:r>
              <a:rPr lang="en-US" altLang="zh-CN" sz="2000" dirty="0" err="1" smtClean="0"/>
              <a:t>rs</a:t>
            </a:r>
            <a:r>
              <a:rPr lang="zh-CN" altLang="en-US" sz="2000" dirty="0" smtClean="0"/>
              <a:t>         功能</a:t>
            </a:r>
            <a:r>
              <a:rPr lang="zh-CN" altLang="en-US" sz="2000" dirty="0"/>
              <a:t>：</a:t>
            </a:r>
            <a:r>
              <a:rPr lang="en-US" altLang="zh-CN" sz="2000" dirty="0" err="1"/>
              <a:t>rd←rs</a:t>
            </a:r>
            <a:r>
              <a:rPr lang="en-US" altLang="zh-CN" sz="2000" dirty="0"/>
              <a:t> 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393173" y="2886474"/>
          <a:ext cx="81280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000001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 smtClean="0"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(5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00000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 smtClean="0">
                          <a:latin typeface="+mn-ea"/>
                          <a:ea typeface="+mn-ea"/>
                        </a:rPr>
                        <a:t>rd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(5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reserved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629137" y="3400696"/>
            <a:ext cx="108196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存储器读</a:t>
            </a:r>
            <a:r>
              <a:rPr lang="en-US" altLang="zh-CN" sz="2000" dirty="0"/>
              <a:t>/</a:t>
            </a:r>
            <a:r>
              <a:rPr lang="zh-CN" altLang="en-US" sz="2000" dirty="0"/>
              <a:t>写指令 </a:t>
            </a:r>
            <a:endParaRPr lang="en-US" altLang="zh-CN" sz="2000" dirty="0" smtClean="0"/>
          </a:p>
          <a:p>
            <a:r>
              <a:rPr lang="en-US" altLang="zh-CN" sz="2000" dirty="0" smtClean="0"/>
              <a:t>       </a:t>
            </a:r>
            <a:r>
              <a:rPr lang="en-US" altLang="zh-CN" sz="2000" dirty="0" err="1" smtClean="0"/>
              <a:t>sw</a:t>
            </a:r>
            <a:r>
              <a:rPr lang="en-US" altLang="zh-CN" sz="2000" dirty="0" smtClean="0"/>
              <a:t> </a:t>
            </a:r>
            <a:r>
              <a:rPr lang="en-US" altLang="zh-CN" sz="2000" dirty="0" err="1"/>
              <a:t>rt</a:t>
            </a:r>
            <a:r>
              <a:rPr lang="en-US" altLang="zh-CN" sz="2000" dirty="0"/>
              <a:t> ,immediate(</a:t>
            </a:r>
            <a:r>
              <a:rPr lang="en-US" altLang="zh-CN" sz="2000" dirty="0" err="1"/>
              <a:t>rs</a:t>
            </a:r>
            <a:r>
              <a:rPr lang="en-US" altLang="zh-CN" sz="2000" dirty="0"/>
              <a:t>) </a:t>
            </a:r>
            <a:r>
              <a:rPr lang="zh-CN" altLang="en-US" sz="2000" dirty="0"/>
              <a:t>写</a:t>
            </a:r>
            <a:r>
              <a:rPr lang="zh-CN" altLang="en-US" sz="2000" dirty="0" smtClean="0"/>
              <a:t>存储器</a:t>
            </a:r>
            <a:endParaRPr lang="en-US" altLang="zh-CN" sz="2000" dirty="0" smtClean="0"/>
          </a:p>
          <a:p>
            <a:r>
              <a:rPr lang="zh-CN" altLang="en-US" sz="2000" dirty="0" smtClean="0"/>
              <a:t>       功能</a:t>
            </a:r>
            <a:r>
              <a:rPr lang="zh-CN" altLang="en-US" sz="2000" dirty="0"/>
              <a:t>：</a:t>
            </a:r>
            <a:r>
              <a:rPr lang="en-US" altLang="zh-CN" sz="2000" dirty="0"/>
              <a:t>memory[</a:t>
            </a:r>
            <a:r>
              <a:rPr lang="en-US" altLang="zh-CN" sz="2000" dirty="0" err="1"/>
              <a:t>rs</a:t>
            </a:r>
            <a:r>
              <a:rPr lang="en-US" altLang="zh-CN" sz="2000" dirty="0"/>
              <a:t>+ (sign-extend)immediate]←</a:t>
            </a:r>
            <a:r>
              <a:rPr lang="en-US" altLang="zh-CN" sz="2000" dirty="0" err="1"/>
              <a:t>rt</a:t>
            </a:r>
            <a:r>
              <a:rPr lang="zh-CN" altLang="en-US" sz="2000" dirty="0"/>
              <a:t>；</a:t>
            </a:r>
            <a:r>
              <a:rPr lang="en-US" altLang="zh-CN" sz="2000" dirty="0"/>
              <a:t>immediate </a:t>
            </a:r>
            <a:r>
              <a:rPr lang="zh-CN" altLang="en-US" sz="2000" dirty="0"/>
              <a:t>符号扩展再相加。</a:t>
            </a:r>
            <a:endParaRPr lang="zh-CN" altLang="en-US" sz="20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93173" y="4534341"/>
          <a:ext cx="81280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000010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 smtClean="0"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(5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 smtClean="0">
                          <a:latin typeface="+mn-ea"/>
                          <a:ea typeface="+mn-ea"/>
                        </a:rPr>
                        <a:t>rt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(5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immediate(16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727167" y="5048563"/>
            <a:ext cx="675537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分支指令 </a:t>
            </a:r>
            <a:endParaRPr lang="en-US" altLang="zh-CN" sz="2000" dirty="0" smtClean="0"/>
          </a:p>
          <a:p>
            <a:r>
              <a:rPr lang="en-US" altLang="zh-CN" sz="2000" dirty="0" smtClean="0"/>
              <a:t>      </a:t>
            </a:r>
            <a:r>
              <a:rPr lang="en-US" altLang="zh-CN" sz="2000" dirty="0" err="1" smtClean="0"/>
              <a:t>beq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rs,rt,immediate</a:t>
            </a:r>
            <a:endParaRPr lang="en-US" altLang="zh-CN" sz="2000" dirty="0" smtClean="0"/>
          </a:p>
          <a:p>
            <a:r>
              <a:rPr lang="zh-CN" altLang="en-US" sz="2000" dirty="0" smtClean="0"/>
              <a:t>     功能</a:t>
            </a:r>
            <a:r>
              <a:rPr lang="zh-CN" altLang="en-US" sz="2000" dirty="0"/>
              <a:t>：</a:t>
            </a:r>
            <a:r>
              <a:rPr lang="en-US" altLang="zh-CN" sz="2000" dirty="0"/>
              <a:t>if(</a:t>
            </a:r>
            <a:r>
              <a:rPr lang="en-US" altLang="zh-CN" sz="2000" dirty="0" err="1"/>
              <a:t>rs</a:t>
            </a:r>
            <a:r>
              <a:rPr lang="en-US" altLang="zh-CN" sz="2000" dirty="0"/>
              <a:t>=</a:t>
            </a:r>
            <a:r>
              <a:rPr lang="en-US" altLang="zh-CN" sz="2000" dirty="0" err="1"/>
              <a:t>rt</a:t>
            </a:r>
            <a:r>
              <a:rPr lang="en-US" altLang="zh-CN" sz="2000" dirty="0"/>
              <a:t>) </a:t>
            </a:r>
            <a:r>
              <a:rPr lang="en-US" altLang="zh-CN" sz="2000" dirty="0" err="1"/>
              <a:t>pc←pc</a:t>
            </a:r>
            <a:r>
              <a:rPr lang="en-US" altLang="zh-CN" sz="2000" dirty="0"/>
              <a:t> + 4 + (sign-extend)immediate &lt;&lt;2</a:t>
            </a:r>
            <a:r>
              <a:rPr lang="zh-CN" altLang="en-US" sz="2000" dirty="0"/>
              <a:t>；</a:t>
            </a:r>
            <a:endParaRPr lang="zh-CN" altLang="en-US" sz="20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393173" y="6217409"/>
          <a:ext cx="81280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397"/>
                <a:gridCol w="1716066"/>
                <a:gridCol w="1691013"/>
                <a:gridCol w="343352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000011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 smtClean="0"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(5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 smtClean="0">
                          <a:latin typeface="+mn-ea"/>
                          <a:ea typeface="+mn-ea"/>
                        </a:rPr>
                        <a:t>rt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(5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immediate(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位移量，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16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7597" y="325770"/>
            <a:ext cx="53190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数据通路 ：单周期 </a:t>
            </a:r>
            <a:r>
              <a:rPr lang="en-US" altLang="zh-CN" sz="2000" dirty="0"/>
              <a:t>32 </a:t>
            </a:r>
            <a:r>
              <a:rPr lang="zh-CN" altLang="en-US" sz="2000" dirty="0"/>
              <a:t>位 </a:t>
            </a:r>
            <a:r>
              <a:rPr lang="en-US" altLang="zh-CN" sz="2000" dirty="0"/>
              <a:t>MIPSCPU </a:t>
            </a:r>
            <a:r>
              <a:rPr lang="zh-CN" altLang="en-US" sz="2000" dirty="0"/>
              <a:t>的参考如下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273" y="939943"/>
            <a:ext cx="8180780" cy="55109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6170" y="650243"/>
            <a:ext cx="1201583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四、实验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步骤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dirty="0"/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启动</a:t>
            </a:r>
            <a:r>
              <a:rPr lang="en-US" altLang="zh-CN" sz="2400" dirty="0" err="1"/>
              <a:t>Vivado</a:t>
            </a:r>
            <a:r>
              <a:rPr lang="zh-CN" altLang="en-US" sz="2400" dirty="0"/>
              <a:t>，选择</a:t>
            </a:r>
            <a:r>
              <a:rPr lang="en-US" altLang="zh-CN" sz="2400" dirty="0"/>
              <a:t>File-&gt;New Project</a:t>
            </a:r>
            <a:r>
              <a:rPr lang="zh-CN" altLang="en-US" sz="2400" dirty="0"/>
              <a:t>，输入工程名称，选择工程文件的路径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、选择</a:t>
            </a:r>
            <a:r>
              <a:rPr lang="en-US" altLang="zh-CN" sz="2400" dirty="0"/>
              <a:t>RTL Project</a:t>
            </a:r>
            <a:r>
              <a:rPr lang="zh-CN" altLang="en-US" sz="2400" dirty="0"/>
              <a:t>，勾选</a:t>
            </a:r>
            <a:r>
              <a:rPr lang="en-US" altLang="zh-CN" sz="2400" dirty="0"/>
              <a:t>Do not specify sources at this time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、在筛选器中进行如下选择：</a:t>
            </a:r>
            <a:endParaRPr lang="en-US" altLang="zh-CN" sz="2400" dirty="0"/>
          </a:p>
          <a:p>
            <a:r>
              <a:rPr lang="en-US" altLang="zh-CN" sz="2400" dirty="0"/>
              <a:t>   family-&gt;Artix7 package-&gt;fbg676  </a:t>
            </a:r>
            <a:r>
              <a:rPr lang="zh-CN" altLang="en-US" sz="2400" dirty="0"/>
              <a:t>最后选择型号</a:t>
            </a:r>
            <a:r>
              <a:rPr lang="en-US" altLang="zh-CN" sz="2400" dirty="0"/>
              <a:t>xc7a200tfbg676-2</a:t>
            </a:r>
            <a:endParaRPr lang="en-US" altLang="zh-CN" sz="2400" dirty="0"/>
          </a:p>
          <a:p>
            <a:r>
              <a:rPr lang="en-US" altLang="zh-CN" sz="2400" dirty="0"/>
              <a:t>4</a:t>
            </a:r>
            <a:r>
              <a:rPr lang="zh-CN" altLang="en-US" sz="2400" dirty="0"/>
              <a:t>、添加源文件</a:t>
            </a:r>
            <a:r>
              <a:rPr lang="en-US" altLang="zh-CN" sz="2400" dirty="0"/>
              <a:t>Project Manager-&gt;Add sources-&gt;Add or create design sources</a:t>
            </a:r>
            <a:endParaRPr lang="en-US" altLang="zh-CN" sz="2400" dirty="0"/>
          </a:p>
          <a:p>
            <a:r>
              <a:rPr lang="en-US" altLang="zh-CN" sz="2400" dirty="0"/>
              <a:t>    -&gt;Create File,</a:t>
            </a:r>
            <a:r>
              <a:rPr lang="zh-CN" altLang="en-US" sz="2400" dirty="0"/>
              <a:t>开始输入程序代码</a:t>
            </a:r>
            <a:endParaRPr lang="en-US" altLang="zh-CN" sz="2400" dirty="0"/>
          </a:p>
          <a:p>
            <a:r>
              <a:rPr lang="en-US" altLang="zh-CN" sz="2400" dirty="0"/>
              <a:t>5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对设计文件进行仿真，通过输入激励信号，查看仿真后的输出信号，判断是否符合设计 要求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250076" y="460521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五、记录实验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六、撰写实验报告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mRhNmI1ZDY3ZWRiYWRmNTc4ZDNlZjQzOGIzMTgwNm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2356</Words>
  <Application>WPS 演示</Application>
  <PresentationFormat>宽屏</PresentationFormat>
  <Paragraphs>157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Symbol</vt:lpstr>
      <vt:lpstr>黑体</vt:lpstr>
      <vt:lpstr>Candara</vt:lpstr>
      <vt:lpstr>华文楷体</vt:lpstr>
      <vt:lpstr>微软雅黑</vt:lpstr>
      <vt:lpstr>Arial Unicode MS</vt:lpstr>
      <vt:lpstr>华文新魏</vt:lpstr>
      <vt:lpstr>Calibri</vt:lpstr>
      <vt:lpstr>波形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扼 腕重来</dc:creator>
  <cp:lastModifiedBy>admin</cp:lastModifiedBy>
  <cp:revision>32</cp:revision>
  <dcterms:created xsi:type="dcterms:W3CDTF">2020-08-31T13:13:00Z</dcterms:created>
  <dcterms:modified xsi:type="dcterms:W3CDTF">2022-11-16T07:45:35Z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F3A1C592A0184F16B6122ADC3A9378FE</vt:lpwstr>
  </property>
  <property fmtid="{D5CDD505-2E9C-101B-9397-08002B2CF9AE}" pid="3" name="KSOProductBuildVer">
    <vt:lpwstr>2052-11.1.0.12763</vt:lpwstr>
  </property>
</Properties>
</file>