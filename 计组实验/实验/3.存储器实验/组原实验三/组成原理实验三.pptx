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432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/>
          <p:cNvSpPr/>
          <p:nvPr/>
        </p:nvSpPr>
        <p:spPr>
          <a:xfrm>
            <a:off x="304800" y="228600"/>
            <a:ext cx="11594592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9"/>
          <p:cNvGrpSpPr>
            <a:grpSpLocks noChangeAspect="1"/>
          </p:cNvGrpSpPr>
          <p:nvPr/>
        </p:nvGrpSpPr>
        <p:grpSpPr bwMode="hidden">
          <a:xfrm>
            <a:off x="282220" y="5353963"/>
            <a:ext cx="11631168" cy="1331580"/>
            <a:chOff x="-3905250" y="4294188"/>
            <a:chExt cx="13011150" cy="1892300"/>
          </a:xfrm>
        </p:grpSpPr>
        <p:sp>
          <p:nvSpPr>
            <p:cNvPr id="11" name="Freeform 14"/>
            <p:cNvSpPr/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2" name="Freeform 18"/>
            <p:cNvSpPr/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3" name="Freeform 22"/>
            <p:cNvSpPr/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4" name="Freeform 26"/>
            <p:cNvSpPr/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 useBgFill="1">
          <p:nvSpPr>
            <p:cNvPr id="15" name="Freeform 10"/>
            <p:cNvSpPr/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600200"/>
            <a:ext cx="10363200" cy="1780108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556001"/>
            <a:ext cx="8534400" cy="14732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AF70C-9038-4B1A-B041-C25204A264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9BD81-F05F-46E8-9432-16BA3CB204A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AF70C-9038-4B1A-B041-C25204A264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9BD81-F05F-46E8-9432-16BA3CB204A6}" type="slidenum">
              <a:rPr lang="zh-CN" altLang="en-US" smtClean="0"/>
            </a:fld>
            <a:endParaRPr lang="zh-CN" alt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304800" y="228600"/>
            <a:ext cx="11594592" cy="4736592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14"/>
          <p:cNvSpPr/>
          <p:nvPr/>
        </p:nvSpPr>
        <p:spPr bwMode="hidden">
          <a:xfrm>
            <a:off x="8063251" y="4203592"/>
            <a:ext cx="3835239" cy="714026"/>
          </a:xfrm>
          <a:custGeom>
            <a:avLst/>
            <a:gdLst/>
            <a:ahLst/>
            <a:cxnLst>
              <a:cxn ang="0">
                <a:pos x="2700" y="0"/>
              </a:cxn>
              <a:cxn ang="0">
                <a:pos x="2700" y="0"/>
              </a:cxn>
              <a:cxn ang="0">
                <a:pos x="2586" y="18"/>
              </a:cxn>
              <a:cxn ang="0">
                <a:pos x="2470" y="38"/>
              </a:cxn>
              <a:cxn ang="0">
                <a:pos x="2352" y="60"/>
              </a:cxn>
              <a:cxn ang="0">
                <a:pos x="2230" y="82"/>
              </a:cxn>
              <a:cxn ang="0">
                <a:pos x="2106" y="108"/>
              </a:cxn>
              <a:cxn ang="0">
                <a:pos x="1978" y="134"/>
              </a:cxn>
              <a:cxn ang="0">
                <a:pos x="1848" y="164"/>
              </a:cxn>
              <a:cxn ang="0">
                <a:pos x="1714" y="194"/>
              </a:cxn>
              <a:cxn ang="0">
                <a:pos x="1714" y="194"/>
              </a:cxn>
              <a:cxn ang="0">
                <a:pos x="1472" y="252"/>
              </a:cxn>
              <a:cxn ang="0">
                <a:pos x="1236" y="304"/>
              </a:cxn>
              <a:cxn ang="0">
                <a:pos x="1010" y="352"/>
              </a:cxn>
              <a:cxn ang="0">
                <a:pos x="792" y="398"/>
              </a:cxn>
              <a:cxn ang="0">
                <a:pos x="584" y="438"/>
              </a:cxn>
              <a:cxn ang="0">
                <a:pos x="382" y="474"/>
              </a:cxn>
              <a:cxn ang="0">
                <a:pos x="188" y="508"/>
              </a:cxn>
              <a:cxn ang="0">
                <a:pos x="0" y="538"/>
              </a:cxn>
              <a:cxn ang="0">
                <a:pos x="0" y="538"/>
              </a:cxn>
              <a:cxn ang="0">
                <a:pos x="130" y="556"/>
              </a:cxn>
              <a:cxn ang="0">
                <a:pos x="254" y="572"/>
              </a:cxn>
              <a:cxn ang="0">
                <a:pos x="374" y="586"/>
              </a:cxn>
              <a:cxn ang="0">
                <a:pos x="492" y="598"/>
              </a:cxn>
              <a:cxn ang="0">
                <a:pos x="606" y="610"/>
              </a:cxn>
              <a:cxn ang="0">
                <a:pos x="716" y="618"/>
              </a:cxn>
              <a:cxn ang="0">
                <a:pos x="822" y="626"/>
              </a:cxn>
              <a:cxn ang="0">
                <a:pos x="926" y="632"/>
              </a:cxn>
              <a:cxn ang="0">
                <a:pos x="1028" y="636"/>
              </a:cxn>
              <a:cxn ang="0">
                <a:pos x="1126" y="638"/>
              </a:cxn>
              <a:cxn ang="0">
                <a:pos x="1220" y="640"/>
              </a:cxn>
              <a:cxn ang="0">
                <a:pos x="1312" y="640"/>
              </a:cxn>
              <a:cxn ang="0">
                <a:pos x="1402" y="638"/>
              </a:cxn>
              <a:cxn ang="0">
                <a:pos x="1490" y="636"/>
              </a:cxn>
              <a:cxn ang="0">
                <a:pos x="1574" y="632"/>
              </a:cxn>
              <a:cxn ang="0">
                <a:pos x="1656" y="626"/>
              </a:cxn>
              <a:cxn ang="0">
                <a:pos x="1734" y="620"/>
              </a:cxn>
              <a:cxn ang="0">
                <a:pos x="1812" y="612"/>
              </a:cxn>
              <a:cxn ang="0">
                <a:pos x="1886" y="602"/>
              </a:cxn>
              <a:cxn ang="0">
                <a:pos x="1960" y="592"/>
              </a:cxn>
              <a:cxn ang="0">
                <a:pos x="2030" y="580"/>
              </a:cxn>
              <a:cxn ang="0">
                <a:pos x="2100" y="568"/>
              </a:cxn>
              <a:cxn ang="0">
                <a:pos x="2166" y="554"/>
              </a:cxn>
              <a:cxn ang="0">
                <a:pos x="2232" y="540"/>
              </a:cxn>
              <a:cxn ang="0">
                <a:pos x="2296" y="524"/>
              </a:cxn>
              <a:cxn ang="0">
                <a:pos x="2358" y="508"/>
              </a:cxn>
              <a:cxn ang="0">
                <a:pos x="2418" y="490"/>
              </a:cxn>
              <a:cxn ang="0">
                <a:pos x="2478" y="472"/>
              </a:cxn>
              <a:cxn ang="0">
                <a:pos x="2592" y="432"/>
              </a:cxn>
              <a:cxn ang="0">
                <a:pos x="2702" y="390"/>
              </a:cxn>
              <a:cxn ang="0">
                <a:pos x="2702" y="390"/>
              </a:cxn>
              <a:cxn ang="0">
                <a:pos x="2706" y="388"/>
              </a:cxn>
              <a:cxn ang="0">
                <a:pos x="2706" y="388"/>
              </a:cxn>
              <a:cxn ang="0">
                <a:pos x="2706" y="0"/>
              </a:cxn>
              <a:cxn ang="0">
                <a:pos x="2706" y="0"/>
              </a:cxn>
              <a:cxn ang="0">
                <a:pos x="2700" y="0"/>
              </a:cxn>
              <a:cxn ang="0">
                <a:pos x="2700" y="0"/>
              </a:cxn>
            </a:cxnLst>
            <a:rect l="0" t="0" r="r" b="b"/>
            <a:pathLst>
              <a:path w="2706" h="640">
                <a:moveTo>
                  <a:pt x="2700" y="0"/>
                </a:moveTo>
                <a:lnTo>
                  <a:pt x="2700" y="0"/>
                </a:lnTo>
                <a:lnTo>
                  <a:pt x="2586" y="18"/>
                </a:lnTo>
                <a:lnTo>
                  <a:pt x="2470" y="38"/>
                </a:lnTo>
                <a:lnTo>
                  <a:pt x="2352" y="60"/>
                </a:lnTo>
                <a:lnTo>
                  <a:pt x="2230" y="82"/>
                </a:lnTo>
                <a:lnTo>
                  <a:pt x="2106" y="108"/>
                </a:lnTo>
                <a:lnTo>
                  <a:pt x="1978" y="134"/>
                </a:lnTo>
                <a:lnTo>
                  <a:pt x="1848" y="164"/>
                </a:lnTo>
                <a:lnTo>
                  <a:pt x="1714" y="194"/>
                </a:lnTo>
                <a:lnTo>
                  <a:pt x="1714" y="194"/>
                </a:lnTo>
                <a:lnTo>
                  <a:pt x="1472" y="252"/>
                </a:lnTo>
                <a:lnTo>
                  <a:pt x="1236" y="304"/>
                </a:lnTo>
                <a:lnTo>
                  <a:pt x="1010" y="352"/>
                </a:lnTo>
                <a:lnTo>
                  <a:pt x="792" y="398"/>
                </a:lnTo>
                <a:lnTo>
                  <a:pt x="584" y="438"/>
                </a:lnTo>
                <a:lnTo>
                  <a:pt x="382" y="474"/>
                </a:lnTo>
                <a:lnTo>
                  <a:pt x="188" y="508"/>
                </a:lnTo>
                <a:lnTo>
                  <a:pt x="0" y="538"/>
                </a:lnTo>
                <a:lnTo>
                  <a:pt x="0" y="538"/>
                </a:lnTo>
                <a:lnTo>
                  <a:pt x="130" y="556"/>
                </a:lnTo>
                <a:lnTo>
                  <a:pt x="254" y="572"/>
                </a:lnTo>
                <a:lnTo>
                  <a:pt x="374" y="586"/>
                </a:lnTo>
                <a:lnTo>
                  <a:pt x="492" y="598"/>
                </a:lnTo>
                <a:lnTo>
                  <a:pt x="606" y="610"/>
                </a:lnTo>
                <a:lnTo>
                  <a:pt x="716" y="618"/>
                </a:lnTo>
                <a:lnTo>
                  <a:pt x="822" y="626"/>
                </a:lnTo>
                <a:lnTo>
                  <a:pt x="926" y="632"/>
                </a:lnTo>
                <a:lnTo>
                  <a:pt x="1028" y="636"/>
                </a:lnTo>
                <a:lnTo>
                  <a:pt x="1126" y="638"/>
                </a:lnTo>
                <a:lnTo>
                  <a:pt x="1220" y="640"/>
                </a:lnTo>
                <a:lnTo>
                  <a:pt x="1312" y="640"/>
                </a:lnTo>
                <a:lnTo>
                  <a:pt x="1402" y="638"/>
                </a:lnTo>
                <a:lnTo>
                  <a:pt x="1490" y="636"/>
                </a:lnTo>
                <a:lnTo>
                  <a:pt x="1574" y="632"/>
                </a:lnTo>
                <a:lnTo>
                  <a:pt x="1656" y="626"/>
                </a:lnTo>
                <a:lnTo>
                  <a:pt x="1734" y="620"/>
                </a:lnTo>
                <a:lnTo>
                  <a:pt x="1812" y="612"/>
                </a:lnTo>
                <a:lnTo>
                  <a:pt x="1886" y="602"/>
                </a:lnTo>
                <a:lnTo>
                  <a:pt x="1960" y="592"/>
                </a:lnTo>
                <a:lnTo>
                  <a:pt x="2030" y="580"/>
                </a:lnTo>
                <a:lnTo>
                  <a:pt x="2100" y="568"/>
                </a:lnTo>
                <a:lnTo>
                  <a:pt x="2166" y="554"/>
                </a:lnTo>
                <a:lnTo>
                  <a:pt x="2232" y="540"/>
                </a:lnTo>
                <a:lnTo>
                  <a:pt x="2296" y="524"/>
                </a:lnTo>
                <a:lnTo>
                  <a:pt x="2358" y="508"/>
                </a:lnTo>
                <a:lnTo>
                  <a:pt x="2418" y="490"/>
                </a:lnTo>
                <a:lnTo>
                  <a:pt x="2478" y="472"/>
                </a:lnTo>
                <a:lnTo>
                  <a:pt x="2592" y="432"/>
                </a:lnTo>
                <a:lnTo>
                  <a:pt x="2702" y="390"/>
                </a:lnTo>
                <a:lnTo>
                  <a:pt x="2702" y="390"/>
                </a:lnTo>
                <a:lnTo>
                  <a:pt x="2706" y="388"/>
                </a:lnTo>
                <a:lnTo>
                  <a:pt x="2706" y="388"/>
                </a:lnTo>
                <a:lnTo>
                  <a:pt x="2706" y="0"/>
                </a:lnTo>
                <a:lnTo>
                  <a:pt x="2706" y="0"/>
                </a:lnTo>
                <a:lnTo>
                  <a:pt x="2700" y="0"/>
                </a:lnTo>
                <a:lnTo>
                  <a:pt x="2700" y="0"/>
                </a:lnTo>
                <a:close/>
              </a:path>
            </a:pathLst>
          </a:custGeom>
          <a:solidFill>
            <a:schemeClr val="bg2">
              <a:alpha val="29000"/>
            </a:schemeClr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10" name="Freeform 18"/>
          <p:cNvSpPr/>
          <p:nvPr/>
        </p:nvSpPr>
        <p:spPr bwMode="hidden">
          <a:xfrm>
            <a:off x="3492427" y="4075290"/>
            <a:ext cx="7392687" cy="850138"/>
          </a:xfrm>
          <a:custGeom>
            <a:avLst/>
            <a:gdLst/>
            <a:ahLst/>
            <a:cxnLst>
              <a:cxn ang="0">
                <a:pos x="5216" y="714"/>
              </a:cxn>
              <a:cxn ang="0">
                <a:pos x="4984" y="686"/>
              </a:cxn>
              <a:cxn ang="0">
                <a:pos x="4478" y="610"/>
              </a:cxn>
              <a:cxn ang="0">
                <a:pos x="3914" y="508"/>
              </a:cxn>
              <a:cxn ang="0">
                <a:pos x="3286" y="374"/>
              </a:cxn>
              <a:cxn ang="0">
                <a:pos x="2946" y="296"/>
              </a:cxn>
              <a:cxn ang="0">
                <a:pos x="2682" y="236"/>
              </a:cxn>
              <a:cxn ang="0">
                <a:pos x="2430" y="184"/>
              </a:cxn>
              <a:cxn ang="0">
                <a:pos x="2190" y="140"/>
              </a:cxn>
              <a:cxn ang="0">
                <a:pos x="1960" y="102"/>
              </a:cxn>
              <a:cxn ang="0">
                <a:pos x="1740" y="72"/>
              </a:cxn>
              <a:cxn ang="0">
                <a:pos x="1334" y="28"/>
              </a:cxn>
              <a:cxn ang="0">
                <a:pos x="970" y="4"/>
              </a:cxn>
              <a:cxn ang="0">
                <a:pos x="644" y="0"/>
              </a:cxn>
              <a:cxn ang="0">
                <a:pos x="358" y="10"/>
              </a:cxn>
              <a:cxn ang="0">
                <a:pos x="110" y="32"/>
              </a:cxn>
              <a:cxn ang="0">
                <a:pos x="0" y="48"/>
              </a:cxn>
              <a:cxn ang="0">
                <a:pos x="314" y="86"/>
              </a:cxn>
              <a:cxn ang="0">
                <a:pos x="652" y="140"/>
              </a:cxn>
              <a:cxn ang="0">
                <a:pos x="1014" y="210"/>
              </a:cxn>
              <a:cxn ang="0">
                <a:pos x="1402" y="296"/>
              </a:cxn>
              <a:cxn ang="0">
                <a:pos x="1756" y="378"/>
              </a:cxn>
              <a:cxn ang="0">
                <a:pos x="2408" y="516"/>
              </a:cxn>
              <a:cxn ang="0">
                <a:pos x="2708" y="572"/>
              </a:cxn>
              <a:cxn ang="0">
                <a:pos x="2992" y="620"/>
              </a:cxn>
              <a:cxn ang="0">
                <a:pos x="3260" y="662"/>
              </a:cxn>
              <a:cxn ang="0">
                <a:pos x="3512" y="694"/>
              </a:cxn>
              <a:cxn ang="0">
                <a:pos x="3750" y="722"/>
              </a:cxn>
              <a:cxn ang="0">
                <a:pos x="3974" y="740"/>
              </a:cxn>
              <a:cxn ang="0">
                <a:pos x="4184" y="754"/>
              </a:cxn>
              <a:cxn ang="0">
                <a:pos x="4384" y="762"/>
              </a:cxn>
              <a:cxn ang="0">
                <a:pos x="4570" y="762"/>
              </a:cxn>
              <a:cxn ang="0">
                <a:pos x="4746" y="758"/>
              </a:cxn>
              <a:cxn ang="0">
                <a:pos x="4912" y="748"/>
              </a:cxn>
              <a:cxn ang="0">
                <a:pos x="5068" y="732"/>
              </a:cxn>
              <a:cxn ang="0">
                <a:pos x="5216" y="714"/>
              </a:cxn>
            </a:cxnLst>
            <a:rect l="0" t="0" r="r" b="b"/>
            <a:pathLst>
              <a:path w="5216" h="762">
                <a:moveTo>
                  <a:pt x="5216" y="714"/>
                </a:moveTo>
                <a:lnTo>
                  <a:pt x="5216" y="714"/>
                </a:lnTo>
                <a:lnTo>
                  <a:pt x="5102" y="700"/>
                </a:lnTo>
                <a:lnTo>
                  <a:pt x="4984" y="686"/>
                </a:lnTo>
                <a:lnTo>
                  <a:pt x="4738" y="652"/>
                </a:lnTo>
                <a:lnTo>
                  <a:pt x="4478" y="610"/>
                </a:lnTo>
                <a:lnTo>
                  <a:pt x="4204" y="564"/>
                </a:lnTo>
                <a:lnTo>
                  <a:pt x="3914" y="508"/>
                </a:lnTo>
                <a:lnTo>
                  <a:pt x="3608" y="446"/>
                </a:lnTo>
                <a:lnTo>
                  <a:pt x="3286" y="374"/>
                </a:lnTo>
                <a:lnTo>
                  <a:pt x="2946" y="296"/>
                </a:lnTo>
                <a:lnTo>
                  <a:pt x="2946" y="296"/>
                </a:lnTo>
                <a:lnTo>
                  <a:pt x="2812" y="266"/>
                </a:lnTo>
                <a:lnTo>
                  <a:pt x="2682" y="236"/>
                </a:lnTo>
                <a:lnTo>
                  <a:pt x="2556" y="210"/>
                </a:lnTo>
                <a:lnTo>
                  <a:pt x="2430" y="184"/>
                </a:lnTo>
                <a:lnTo>
                  <a:pt x="2308" y="162"/>
                </a:lnTo>
                <a:lnTo>
                  <a:pt x="2190" y="140"/>
                </a:lnTo>
                <a:lnTo>
                  <a:pt x="2074" y="120"/>
                </a:lnTo>
                <a:lnTo>
                  <a:pt x="1960" y="102"/>
                </a:lnTo>
                <a:lnTo>
                  <a:pt x="1850" y="86"/>
                </a:lnTo>
                <a:lnTo>
                  <a:pt x="1740" y="72"/>
                </a:lnTo>
                <a:lnTo>
                  <a:pt x="1532" y="46"/>
                </a:lnTo>
                <a:lnTo>
                  <a:pt x="1334" y="28"/>
                </a:lnTo>
                <a:lnTo>
                  <a:pt x="1148" y="14"/>
                </a:lnTo>
                <a:lnTo>
                  <a:pt x="970" y="4"/>
                </a:lnTo>
                <a:lnTo>
                  <a:pt x="802" y="0"/>
                </a:lnTo>
                <a:lnTo>
                  <a:pt x="644" y="0"/>
                </a:lnTo>
                <a:lnTo>
                  <a:pt x="496" y="4"/>
                </a:lnTo>
                <a:lnTo>
                  <a:pt x="358" y="10"/>
                </a:lnTo>
                <a:lnTo>
                  <a:pt x="230" y="20"/>
                </a:lnTo>
                <a:lnTo>
                  <a:pt x="110" y="32"/>
                </a:lnTo>
                <a:lnTo>
                  <a:pt x="0" y="48"/>
                </a:lnTo>
                <a:lnTo>
                  <a:pt x="0" y="48"/>
                </a:lnTo>
                <a:lnTo>
                  <a:pt x="154" y="66"/>
                </a:lnTo>
                <a:lnTo>
                  <a:pt x="314" y="86"/>
                </a:lnTo>
                <a:lnTo>
                  <a:pt x="480" y="112"/>
                </a:lnTo>
                <a:lnTo>
                  <a:pt x="652" y="140"/>
                </a:lnTo>
                <a:lnTo>
                  <a:pt x="830" y="174"/>
                </a:lnTo>
                <a:lnTo>
                  <a:pt x="1014" y="210"/>
                </a:lnTo>
                <a:lnTo>
                  <a:pt x="1206" y="250"/>
                </a:lnTo>
                <a:lnTo>
                  <a:pt x="1402" y="296"/>
                </a:lnTo>
                <a:lnTo>
                  <a:pt x="1402" y="296"/>
                </a:lnTo>
                <a:lnTo>
                  <a:pt x="1756" y="378"/>
                </a:lnTo>
                <a:lnTo>
                  <a:pt x="2092" y="450"/>
                </a:lnTo>
                <a:lnTo>
                  <a:pt x="2408" y="516"/>
                </a:lnTo>
                <a:lnTo>
                  <a:pt x="2562" y="544"/>
                </a:lnTo>
                <a:lnTo>
                  <a:pt x="2708" y="572"/>
                </a:lnTo>
                <a:lnTo>
                  <a:pt x="2852" y="598"/>
                </a:lnTo>
                <a:lnTo>
                  <a:pt x="2992" y="620"/>
                </a:lnTo>
                <a:lnTo>
                  <a:pt x="3128" y="642"/>
                </a:lnTo>
                <a:lnTo>
                  <a:pt x="3260" y="662"/>
                </a:lnTo>
                <a:lnTo>
                  <a:pt x="3388" y="678"/>
                </a:lnTo>
                <a:lnTo>
                  <a:pt x="3512" y="694"/>
                </a:lnTo>
                <a:lnTo>
                  <a:pt x="3632" y="708"/>
                </a:lnTo>
                <a:lnTo>
                  <a:pt x="3750" y="722"/>
                </a:lnTo>
                <a:lnTo>
                  <a:pt x="3864" y="732"/>
                </a:lnTo>
                <a:lnTo>
                  <a:pt x="3974" y="740"/>
                </a:lnTo>
                <a:lnTo>
                  <a:pt x="4080" y="748"/>
                </a:lnTo>
                <a:lnTo>
                  <a:pt x="4184" y="754"/>
                </a:lnTo>
                <a:lnTo>
                  <a:pt x="4286" y="758"/>
                </a:lnTo>
                <a:lnTo>
                  <a:pt x="4384" y="762"/>
                </a:lnTo>
                <a:lnTo>
                  <a:pt x="4478" y="762"/>
                </a:lnTo>
                <a:lnTo>
                  <a:pt x="4570" y="762"/>
                </a:lnTo>
                <a:lnTo>
                  <a:pt x="4660" y="760"/>
                </a:lnTo>
                <a:lnTo>
                  <a:pt x="4746" y="758"/>
                </a:lnTo>
                <a:lnTo>
                  <a:pt x="4830" y="754"/>
                </a:lnTo>
                <a:lnTo>
                  <a:pt x="4912" y="748"/>
                </a:lnTo>
                <a:lnTo>
                  <a:pt x="4992" y="740"/>
                </a:lnTo>
                <a:lnTo>
                  <a:pt x="5068" y="732"/>
                </a:lnTo>
                <a:lnTo>
                  <a:pt x="5144" y="724"/>
                </a:lnTo>
                <a:lnTo>
                  <a:pt x="5216" y="714"/>
                </a:lnTo>
                <a:lnTo>
                  <a:pt x="5216" y="714"/>
                </a:lnTo>
                <a:close/>
              </a:path>
            </a:pathLst>
          </a:custGeom>
          <a:solidFill>
            <a:schemeClr val="bg2">
              <a:alpha val="40000"/>
            </a:schemeClr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11" name="Freeform 22"/>
          <p:cNvSpPr/>
          <p:nvPr/>
        </p:nvSpPr>
        <p:spPr bwMode="hidden">
          <a:xfrm>
            <a:off x="3771637" y="4087562"/>
            <a:ext cx="7290640" cy="774272"/>
          </a:xfrm>
          <a:custGeom>
            <a:avLst/>
            <a:gdLst/>
            <a:ahLst/>
            <a:cxnLst>
              <a:cxn ang="0">
                <a:pos x="0" y="70"/>
              </a:cxn>
              <a:cxn ang="0">
                <a:pos x="0" y="70"/>
              </a:cxn>
              <a:cxn ang="0">
                <a:pos x="18" y="66"/>
              </a:cxn>
              <a:cxn ang="0">
                <a:pos x="72" y="56"/>
              </a:cxn>
              <a:cxn ang="0">
                <a:pos x="164" y="42"/>
              </a:cxn>
              <a:cxn ang="0">
                <a:pos x="224" y="34"/>
              </a:cxn>
              <a:cxn ang="0">
                <a:pos x="294" y="26"/>
              </a:cxn>
              <a:cxn ang="0">
                <a:pos x="372" y="20"/>
              </a:cxn>
              <a:cxn ang="0">
                <a:pos x="462" y="14"/>
              </a:cxn>
              <a:cxn ang="0">
                <a:pos x="560" y="8"/>
              </a:cxn>
              <a:cxn ang="0">
                <a:pos x="670" y="4"/>
              </a:cxn>
              <a:cxn ang="0">
                <a:pos x="790" y="2"/>
              </a:cxn>
              <a:cxn ang="0">
                <a:pos x="920" y="0"/>
              </a:cxn>
              <a:cxn ang="0">
                <a:pos x="1060" y="2"/>
              </a:cxn>
              <a:cxn ang="0">
                <a:pos x="1210" y="6"/>
              </a:cxn>
              <a:cxn ang="0">
                <a:pos x="1372" y="14"/>
              </a:cxn>
              <a:cxn ang="0">
                <a:pos x="1544" y="24"/>
              </a:cxn>
              <a:cxn ang="0">
                <a:pos x="1726" y="40"/>
              </a:cxn>
              <a:cxn ang="0">
                <a:pos x="1920" y="58"/>
              </a:cxn>
              <a:cxn ang="0">
                <a:pos x="2126" y="80"/>
              </a:cxn>
              <a:cxn ang="0">
                <a:pos x="2342" y="106"/>
              </a:cxn>
              <a:cxn ang="0">
                <a:pos x="2570" y="138"/>
              </a:cxn>
              <a:cxn ang="0">
                <a:pos x="2808" y="174"/>
              </a:cxn>
              <a:cxn ang="0">
                <a:pos x="3058" y="216"/>
              </a:cxn>
              <a:cxn ang="0">
                <a:pos x="3320" y="266"/>
              </a:cxn>
              <a:cxn ang="0">
                <a:pos x="3594" y="320"/>
              </a:cxn>
              <a:cxn ang="0">
                <a:pos x="3880" y="380"/>
              </a:cxn>
              <a:cxn ang="0">
                <a:pos x="4178" y="448"/>
              </a:cxn>
              <a:cxn ang="0">
                <a:pos x="4488" y="522"/>
              </a:cxn>
              <a:cxn ang="0">
                <a:pos x="4810" y="604"/>
              </a:cxn>
              <a:cxn ang="0">
                <a:pos x="5144" y="694"/>
              </a:cxn>
            </a:cxnLst>
            <a:rect l="0" t="0" r="r" b="b"/>
            <a:pathLst>
              <a:path w="5144" h="694">
                <a:moveTo>
                  <a:pt x="0" y="70"/>
                </a:moveTo>
                <a:lnTo>
                  <a:pt x="0" y="70"/>
                </a:lnTo>
                <a:lnTo>
                  <a:pt x="18" y="66"/>
                </a:lnTo>
                <a:lnTo>
                  <a:pt x="72" y="56"/>
                </a:lnTo>
                <a:lnTo>
                  <a:pt x="164" y="42"/>
                </a:lnTo>
                <a:lnTo>
                  <a:pt x="224" y="34"/>
                </a:lnTo>
                <a:lnTo>
                  <a:pt x="294" y="26"/>
                </a:lnTo>
                <a:lnTo>
                  <a:pt x="372" y="20"/>
                </a:lnTo>
                <a:lnTo>
                  <a:pt x="462" y="14"/>
                </a:lnTo>
                <a:lnTo>
                  <a:pt x="560" y="8"/>
                </a:lnTo>
                <a:lnTo>
                  <a:pt x="670" y="4"/>
                </a:lnTo>
                <a:lnTo>
                  <a:pt x="790" y="2"/>
                </a:lnTo>
                <a:lnTo>
                  <a:pt x="920" y="0"/>
                </a:lnTo>
                <a:lnTo>
                  <a:pt x="1060" y="2"/>
                </a:lnTo>
                <a:lnTo>
                  <a:pt x="1210" y="6"/>
                </a:lnTo>
                <a:lnTo>
                  <a:pt x="1372" y="14"/>
                </a:lnTo>
                <a:lnTo>
                  <a:pt x="1544" y="24"/>
                </a:lnTo>
                <a:lnTo>
                  <a:pt x="1726" y="40"/>
                </a:lnTo>
                <a:lnTo>
                  <a:pt x="1920" y="58"/>
                </a:lnTo>
                <a:lnTo>
                  <a:pt x="2126" y="80"/>
                </a:lnTo>
                <a:lnTo>
                  <a:pt x="2342" y="106"/>
                </a:lnTo>
                <a:lnTo>
                  <a:pt x="2570" y="138"/>
                </a:lnTo>
                <a:lnTo>
                  <a:pt x="2808" y="174"/>
                </a:lnTo>
                <a:lnTo>
                  <a:pt x="3058" y="216"/>
                </a:lnTo>
                <a:lnTo>
                  <a:pt x="3320" y="266"/>
                </a:lnTo>
                <a:lnTo>
                  <a:pt x="3594" y="320"/>
                </a:lnTo>
                <a:lnTo>
                  <a:pt x="3880" y="380"/>
                </a:lnTo>
                <a:lnTo>
                  <a:pt x="4178" y="448"/>
                </a:lnTo>
                <a:lnTo>
                  <a:pt x="4488" y="522"/>
                </a:lnTo>
                <a:lnTo>
                  <a:pt x="4810" y="604"/>
                </a:lnTo>
                <a:lnTo>
                  <a:pt x="5144" y="694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12" name="Freeform 26"/>
          <p:cNvSpPr/>
          <p:nvPr/>
        </p:nvSpPr>
        <p:spPr bwMode="hidden">
          <a:xfrm>
            <a:off x="7479319" y="4074175"/>
            <a:ext cx="4410667" cy="651549"/>
          </a:xfrm>
          <a:custGeom>
            <a:avLst/>
            <a:gdLst/>
            <a:ahLst/>
            <a:cxnLst>
              <a:cxn ang="0">
                <a:pos x="0" y="584"/>
              </a:cxn>
              <a:cxn ang="0">
                <a:pos x="0" y="584"/>
              </a:cxn>
              <a:cxn ang="0">
                <a:pos x="90" y="560"/>
              </a:cxn>
              <a:cxn ang="0">
                <a:pos x="336" y="498"/>
              </a:cxn>
              <a:cxn ang="0">
                <a:pos x="506" y="456"/>
              </a:cxn>
              <a:cxn ang="0">
                <a:pos x="702" y="410"/>
              </a:cxn>
              <a:cxn ang="0">
                <a:pos x="920" y="360"/>
              </a:cxn>
              <a:cxn ang="0">
                <a:pos x="1154" y="306"/>
              </a:cxn>
              <a:cxn ang="0">
                <a:pos x="1402" y="254"/>
              </a:cxn>
              <a:cxn ang="0">
                <a:pos x="1656" y="202"/>
              </a:cxn>
              <a:cxn ang="0">
                <a:pos x="1916" y="154"/>
              </a:cxn>
              <a:cxn ang="0">
                <a:pos x="2174" y="108"/>
              </a:cxn>
              <a:cxn ang="0">
                <a:pos x="2302" y="88"/>
              </a:cxn>
              <a:cxn ang="0">
                <a:pos x="2426" y="68"/>
              </a:cxn>
              <a:cxn ang="0">
                <a:pos x="2550" y="52"/>
              </a:cxn>
              <a:cxn ang="0">
                <a:pos x="2670" y="36"/>
              </a:cxn>
              <a:cxn ang="0">
                <a:pos x="2788" y="24"/>
              </a:cxn>
              <a:cxn ang="0">
                <a:pos x="2900" y="14"/>
              </a:cxn>
              <a:cxn ang="0">
                <a:pos x="3008" y="6"/>
              </a:cxn>
              <a:cxn ang="0">
                <a:pos x="3112" y="0"/>
              </a:cxn>
            </a:cxnLst>
            <a:rect l="0" t="0" r="r" b="b"/>
            <a:pathLst>
              <a:path w="3112" h="584">
                <a:moveTo>
                  <a:pt x="0" y="584"/>
                </a:moveTo>
                <a:lnTo>
                  <a:pt x="0" y="584"/>
                </a:lnTo>
                <a:lnTo>
                  <a:pt x="90" y="560"/>
                </a:lnTo>
                <a:lnTo>
                  <a:pt x="336" y="498"/>
                </a:lnTo>
                <a:lnTo>
                  <a:pt x="506" y="456"/>
                </a:lnTo>
                <a:lnTo>
                  <a:pt x="702" y="410"/>
                </a:lnTo>
                <a:lnTo>
                  <a:pt x="920" y="360"/>
                </a:lnTo>
                <a:lnTo>
                  <a:pt x="1154" y="306"/>
                </a:lnTo>
                <a:lnTo>
                  <a:pt x="1402" y="254"/>
                </a:lnTo>
                <a:lnTo>
                  <a:pt x="1656" y="202"/>
                </a:lnTo>
                <a:lnTo>
                  <a:pt x="1916" y="154"/>
                </a:lnTo>
                <a:lnTo>
                  <a:pt x="2174" y="108"/>
                </a:lnTo>
                <a:lnTo>
                  <a:pt x="2302" y="88"/>
                </a:lnTo>
                <a:lnTo>
                  <a:pt x="2426" y="68"/>
                </a:lnTo>
                <a:lnTo>
                  <a:pt x="2550" y="52"/>
                </a:lnTo>
                <a:lnTo>
                  <a:pt x="2670" y="36"/>
                </a:lnTo>
                <a:lnTo>
                  <a:pt x="2788" y="24"/>
                </a:lnTo>
                <a:lnTo>
                  <a:pt x="2900" y="14"/>
                </a:lnTo>
                <a:lnTo>
                  <a:pt x="3008" y="6"/>
                </a:lnTo>
                <a:lnTo>
                  <a:pt x="3112" y="0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 useBgFill="1">
        <p:nvSpPr>
          <p:cNvPr id="13" name="Freeform 10"/>
          <p:cNvSpPr/>
          <p:nvPr/>
        </p:nvSpPr>
        <p:spPr bwMode="hidden">
          <a:xfrm>
            <a:off x="282220" y="4058555"/>
            <a:ext cx="11631168" cy="1329874"/>
          </a:xfrm>
          <a:custGeom>
            <a:avLst/>
            <a:gdLst/>
            <a:ahLst/>
            <a:cxnLst>
              <a:cxn ang="0">
                <a:pos x="8192" y="512"/>
              </a:cxn>
              <a:cxn ang="0">
                <a:pos x="8040" y="570"/>
              </a:cxn>
              <a:cxn ang="0">
                <a:pos x="7878" y="620"/>
              </a:cxn>
              <a:cxn ang="0">
                <a:pos x="7706" y="666"/>
              </a:cxn>
              <a:cxn ang="0">
                <a:pos x="7522" y="702"/>
              </a:cxn>
              <a:cxn ang="0">
                <a:pos x="7322" y="730"/>
              </a:cxn>
              <a:cxn ang="0">
                <a:pos x="7106" y="750"/>
              </a:cxn>
              <a:cxn ang="0">
                <a:pos x="6872" y="762"/>
              </a:cxn>
              <a:cxn ang="0">
                <a:pos x="6618" y="760"/>
              </a:cxn>
              <a:cxn ang="0">
                <a:pos x="6342" y="750"/>
              </a:cxn>
              <a:cxn ang="0">
                <a:pos x="6042" y="726"/>
              </a:cxn>
              <a:cxn ang="0">
                <a:pos x="5716" y="690"/>
              </a:cxn>
              <a:cxn ang="0">
                <a:pos x="5364" y="642"/>
              </a:cxn>
              <a:cxn ang="0">
                <a:pos x="4982" y="578"/>
              </a:cxn>
              <a:cxn ang="0">
                <a:pos x="4568" y="500"/>
              </a:cxn>
              <a:cxn ang="0">
                <a:pos x="4122" y="406"/>
              </a:cxn>
              <a:cxn ang="0">
                <a:pos x="3640" y="296"/>
              </a:cxn>
              <a:cxn ang="0">
                <a:pos x="3396" y="240"/>
              </a:cxn>
              <a:cxn ang="0">
                <a:pos x="2934" y="148"/>
              </a:cxn>
              <a:cxn ang="0">
                <a:pos x="2512" y="82"/>
              </a:cxn>
              <a:cxn ang="0">
                <a:pos x="2126" y="36"/>
              </a:cxn>
              <a:cxn ang="0">
                <a:pos x="1776" y="10"/>
              </a:cxn>
              <a:cxn ang="0">
                <a:pos x="1462" y="0"/>
              </a:cxn>
              <a:cxn ang="0">
                <a:pos x="1182" y="4"/>
              </a:cxn>
              <a:cxn ang="0">
                <a:pos x="934" y="20"/>
              </a:cxn>
              <a:cxn ang="0">
                <a:pos x="716" y="44"/>
              </a:cxn>
              <a:cxn ang="0">
                <a:pos x="530" y="74"/>
              </a:cxn>
              <a:cxn ang="0">
                <a:pos x="374" y="108"/>
              </a:cxn>
              <a:cxn ang="0">
                <a:pos x="248" y="144"/>
              </a:cxn>
              <a:cxn ang="0">
                <a:pos x="148" y="176"/>
              </a:cxn>
              <a:cxn ang="0">
                <a:pos x="48" y="216"/>
              </a:cxn>
              <a:cxn ang="0">
                <a:pos x="0" y="240"/>
              </a:cxn>
              <a:cxn ang="0">
                <a:pos x="8192" y="1192"/>
              </a:cxn>
              <a:cxn ang="0">
                <a:pos x="8196" y="1186"/>
              </a:cxn>
              <a:cxn ang="0">
                <a:pos x="8196" y="510"/>
              </a:cxn>
              <a:cxn ang="0">
                <a:pos x="8192" y="512"/>
              </a:cxn>
            </a:cxnLst>
            <a:rect l="0" t="0" r="r" b="b"/>
            <a:pathLst>
              <a:path w="8196" h="1192">
                <a:moveTo>
                  <a:pt x="8192" y="512"/>
                </a:moveTo>
                <a:lnTo>
                  <a:pt x="8192" y="512"/>
                </a:lnTo>
                <a:lnTo>
                  <a:pt x="8116" y="542"/>
                </a:lnTo>
                <a:lnTo>
                  <a:pt x="8040" y="570"/>
                </a:lnTo>
                <a:lnTo>
                  <a:pt x="7960" y="596"/>
                </a:lnTo>
                <a:lnTo>
                  <a:pt x="7878" y="620"/>
                </a:lnTo>
                <a:lnTo>
                  <a:pt x="7794" y="644"/>
                </a:lnTo>
                <a:lnTo>
                  <a:pt x="7706" y="666"/>
                </a:lnTo>
                <a:lnTo>
                  <a:pt x="7616" y="684"/>
                </a:lnTo>
                <a:lnTo>
                  <a:pt x="7522" y="702"/>
                </a:lnTo>
                <a:lnTo>
                  <a:pt x="7424" y="718"/>
                </a:lnTo>
                <a:lnTo>
                  <a:pt x="7322" y="730"/>
                </a:lnTo>
                <a:lnTo>
                  <a:pt x="7216" y="742"/>
                </a:lnTo>
                <a:lnTo>
                  <a:pt x="7106" y="750"/>
                </a:lnTo>
                <a:lnTo>
                  <a:pt x="6992" y="758"/>
                </a:lnTo>
                <a:lnTo>
                  <a:pt x="6872" y="762"/>
                </a:lnTo>
                <a:lnTo>
                  <a:pt x="6748" y="762"/>
                </a:lnTo>
                <a:lnTo>
                  <a:pt x="6618" y="760"/>
                </a:lnTo>
                <a:lnTo>
                  <a:pt x="6482" y="756"/>
                </a:lnTo>
                <a:lnTo>
                  <a:pt x="6342" y="750"/>
                </a:lnTo>
                <a:lnTo>
                  <a:pt x="6196" y="740"/>
                </a:lnTo>
                <a:lnTo>
                  <a:pt x="6042" y="726"/>
                </a:lnTo>
                <a:lnTo>
                  <a:pt x="5882" y="710"/>
                </a:lnTo>
                <a:lnTo>
                  <a:pt x="5716" y="690"/>
                </a:lnTo>
                <a:lnTo>
                  <a:pt x="5544" y="668"/>
                </a:lnTo>
                <a:lnTo>
                  <a:pt x="5364" y="642"/>
                </a:lnTo>
                <a:lnTo>
                  <a:pt x="5176" y="612"/>
                </a:lnTo>
                <a:lnTo>
                  <a:pt x="4982" y="578"/>
                </a:lnTo>
                <a:lnTo>
                  <a:pt x="4778" y="540"/>
                </a:lnTo>
                <a:lnTo>
                  <a:pt x="4568" y="500"/>
                </a:lnTo>
                <a:lnTo>
                  <a:pt x="4348" y="454"/>
                </a:lnTo>
                <a:lnTo>
                  <a:pt x="4122" y="406"/>
                </a:lnTo>
                <a:lnTo>
                  <a:pt x="3886" y="354"/>
                </a:lnTo>
                <a:lnTo>
                  <a:pt x="3640" y="296"/>
                </a:lnTo>
                <a:lnTo>
                  <a:pt x="3640" y="296"/>
                </a:lnTo>
                <a:lnTo>
                  <a:pt x="3396" y="240"/>
                </a:lnTo>
                <a:lnTo>
                  <a:pt x="3160" y="192"/>
                </a:lnTo>
                <a:lnTo>
                  <a:pt x="2934" y="148"/>
                </a:lnTo>
                <a:lnTo>
                  <a:pt x="2718" y="112"/>
                </a:lnTo>
                <a:lnTo>
                  <a:pt x="2512" y="82"/>
                </a:lnTo>
                <a:lnTo>
                  <a:pt x="2314" y="56"/>
                </a:lnTo>
                <a:lnTo>
                  <a:pt x="2126" y="36"/>
                </a:lnTo>
                <a:lnTo>
                  <a:pt x="1948" y="20"/>
                </a:lnTo>
                <a:lnTo>
                  <a:pt x="1776" y="10"/>
                </a:lnTo>
                <a:lnTo>
                  <a:pt x="1616" y="2"/>
                </a:lnTo>
                <a:lnTo>
                  <a:pt x="1462" y="0"/>
                </a:lnTo>
                <a:lnTo>
                  <a:pt x="1318" y="0"/>
                </a:lnTo>
                <a:lnTo>
                  <a:pt x="1182" y="4"/>
                </a:lnTo>
                <a:lnTo>
                  <a:pt x="1054" y="10"/>
                </a:lnTo>
                <a:lnTo>
                  <a:pt x="934" y="20"/>
                </a:lnTo>
                <a:lnTo>
                  <a:pt x="822" y="30"/>
                </a:lnTo>
                <a:lnTo>
                  <a:pt x="716" y="44"/>
                </a:lnTo>
                <a:lnTo>
                  <a:pt x="620" y="58"/>
                </a:lnTo>
                <a:lnTo>
                  <a:pt x="530" y="74"/>
                </a:lnTo>
                <a:lnTo>
                  <a:pt x="450" y="92"/>
                </a:lnTo>
                <a:lnTo>
                  <a:pt x="374" y="108"/>
                </a:lnTo>
                <a:lnTo>
                  <a:pt x="308" y="126"/>
                </a:lnTo>
                <a:lnTo>
                  <a:pt x="248" y="144"/>
                </a:lnTo>
                <a:lnTo>
                  <a:pt x="194" y="160"/>
                </a:lnTo>
                <a:lnTo>
                  <a:pt x="148" y="176"/>
                </a:lnTo>
                <a:lnTo>
                  <a:pt x="108" y="192"/>
                </a:lnTo>
                <a:lnTo>
                  <a:pt x="48" y="216"/>
                </a:lnTo>
                <a:lnTo>
                  <a:pt x="12" y="234"/>
                </a:lnTo>
                <a:lnTo>
                  <a:pt x="0" y="240"/>
                </a:lnTo>
                <a:lnTo>
                  <a:pt x="0" y="1192"/>
                </a:lnTo>
                <a:lnTo>
                  <a:pt x="8192" y="1192"/>
                </a:lnTo>
                <a:lnTo>
                  <a:pt x="8192" y="1192"/>
                </a:lnTo>
                <a:lnTo>
                  <a:pt x="8196" y="1186"/>
                </a:lnTo>
                <a:lnTo>
                  <a:pt x="8196" y="1186"/>
                </a:lnTo>
                <a:lnTo>
                  <a:pt x="8196" y="510"/>
                </a:lnTo>
                <a:lnTo>
                  <a:pt x="8196" y="510"/>
                </a:lnTo>
                <a:lnTo>
                  <a:pt x="8192" y="512"/>
                </a:lnTo>
                <a:lnTo>
                  <a:pt x="8192" y="512"/>
                </a:lnTo>
                <a:close/>
              </a:path>
            </a:pathLst>
          </a:custGeom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0043" y="2463560"/>
            <a:ext cx="10363200" cy="1524000"/>
          </a:xfrm>
        </p:spPr>
        <p:txBody>
          <a:bodyPr anchor="t">
            <a:normAutofit/>
          </a:bodyPr>
          <a:lstStyle>
            <a:lvl1pPr algn="ctr">
              <a:defRPr sz="44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23153" y="1437449"/>
            <a:ext cx="8556979" cy="939801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AF70C-9038-4B1A-B041-C25204A264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9BD81-F05F-46E8-9432-16BA3CB204A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AF70C-9038-4B1A-B041-C25204A264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9BD81-F05F-46E8-9432-16BA3CB204A6}" type="slidenum">
              <a:rPr lang="zh-CN" altLang="en-US" smtClean="0"/>
            </a:fld>
            <a:endParaRPr lang="zh-CN" alt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902207" y="2679192"/>
            <a:ext cx="5096256" cy="34472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6193536" y="2679192"/>
            <a:ext cx="5096256" cy="34472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2208" y="2678114"/>
            <a:ext cx="5096256" cy="639762"/>
          </a:xfrm>
        </p:spPr>
        <p:txBody>
          <a:bodyPr anchor="ctr"/>
          <a:lstStyle>
            <a:lvl1pPr marL="0" indent="0" algn="ctr">
              <a:buNone/>
              <a:defRPr sz="24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03110" y="3429001"/>
            <a:ext cx="5093407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7600" y="2678113"/>
            <a:ext cx="5096256" cy="639762"/>
          </a:xfrm>
        </p:spPr>
        <p:txBody>
          <a:bodyPr anchor="ctr"/>
          <a:lstStyle>
            <a:lvl1pPr marL="0" indent="0" algn="ctr"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7" y="3429001"/>
            <a:ext cx="5096256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AF70C-9038-4B1A-B041-C25204A264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9BD81-F05F-46E8-9432-16BA3CB204A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AF70C-9038-4B1A-B041-C25204A264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9BD81-F05F-46E8-9432-16BA3CB204A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304800" y="228600"/>
            <a:ext cx="11594592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>
            <a:grpSpLocks noChangeAspect="1"/>
          </p:cNvGrpSpPr>
          <p:nvPr/>
        </p:nvGrpSpPr>
        <p:grpSpPr bwMode="hidden">
          <a:xfrm>
            <a:off x="282220" y="714191"/>
            <a:ext cx="11631168" cy="1329874"/>
            <a:chOff x="-3905251" y="4294188"/>
            <a:chExt cx="13027839" cy="1892300"/>
          </a:xfrm>
        </p:grpSpPr>
        <p:sp>
          <p:nvSpPr>
            <p:cNvPr id="7" name="Freeform 14"/>
            <p:cNvSpPr/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8" name="Freeform 18"/>
            <p:cNvSpPr/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9" name="Freeform 22"/>
            <p:cNvSpPr/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0" name="Freeform 26"/>
            <p:cNvSpPr/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 useBgFill="1">
          <p:nvSpPr>
            <p:cNvPr id="11" name="Freeform 10"/>
            <p:cNvSpPr/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AF70C-9038-4B1A-B041-C25204A264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9BD81-F05F-46E8-9432-16BA3CB204A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304800" y="228600"/>
            <a:ext cx="11594592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AF70C-9038-4B1A-B041-C25204A264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9BD81-F05F-46E8-9432-16BA3CB204A6}" type="slidenum">
              <a:rPr lang="zh-CN" altLang="en-US" smtClean="0"/>
            </a:fld>
            <a:endParaRPr lang="zh-CN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9200" y="3581401"/>
            <a:ext cx="4470400" cy="1905001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grpSp>
        <p:nvGrpSpPr>
          <p:cNvPr id="2" name="Group 23"/>
          <p:cNvGrpSpPr>
            <a:grpSpLocks noChangeAspect="1"/>
          </p:cNvGrpSpPr>
          <p:nvPr/>
        </p:nvGrpSpPr>
        <p:grpSpPr bwMode="hidden">
          <a:xfrm>
            <a:off x="282220" y="714191"/>
            <a:ext cx="11631168" cy="1331580"/>
            <a:chOff x="-3905250" y="4294188"/>
            <a:chExt cx="13011150" cy="1892300"/>
          </a:xfrm>
        </p:grpSpPr>
        <p:sp>
          <p:nvSpPr>
            <p:cNvPr id="25" name="Freeform 14"/>
            <p:cNvSpPr/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26" name="Freeform 18"/>
            <p:cNvSpPr/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27" name="Freeform 22"/>
            <p:cNvSpPr/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28" name="Freeform 26"/>
            <p:cNvSpPr/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 useBgFill="1">
          <p:nvSpPr>
            <p:cNvPr id="29" name="Freeform 28"/>
            <p:cNvSpPr/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</p:grpSp>
      <p:sp>
        <p:nvSpPr>
          <p:cNvPr id="22" name="Title 21"/>
          <p:cNvSpPr>
            <a:spLocks noGrp="1"/>
          </p:cNvSpPr>
          <p:nvPr>
            <p:ph type="title"/>
          </p:nvPr>
        </p:nvSpPr>
        <p:spPr>
          <a:xfrm>
            <a:off x="1219200" y="2286000"/>
            <a:ext cx="4470400" cy="1252728"/>
          </a:xfrm>
        </p:spPr>
        <p:txBody>
          <a:bodyPr anchor="b">
            <a:noAutofit/>
          </a:bodyPr>
          <a:lstStyle>
            <a:lvl1pPr algn="l"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02616" y="1828800"/>
            <a:ext cx="5205435" cy="3810000"/>
          </a:xfrm>
        </p:spPr>
        <p:txBody>
          <a:bodyPr anchor="ctr"/>
          <a:lstStyle>
            <a:lvl1pPr>
              <a:buClr>
                <a:schemeClr val="bg1"/>
              </a:buClr>
              <a:defRPr sz="2200">
                <a:solidFill>
                  <a:schemeClr val="tx2"/>
                </a:solidFill>
              </a:defRPr>
            </a:lvl1pPr>
            <a:lvl2pPr>
              <a:buClr>
                <a:schemeClr val="bg1"/>
              </a:buClr>
              <a:defRPr sz="2000">
                <a:solidFill>
                  <a:schemeClr val="tx2"/>
                </a:solidFill>
              </a:defRPr>
            </a:lvl2pPr>
            <a:lvl3pPr>
              <a:buClr>
                <a:schemeClr val="bg1"/>
              </a:buClr>
              <a:defRPr sz="1800">
                <a:solidFill>
                  <a:schemeClr val="tx2"/>
                </a:solidFill>
              </a:defRPr>
            </a:lvl3pPr>
            <a:lvl4pPr>
              <a:buClr>
                <a:schemeClr val="bg1"/>
              </a:buClr>
              <a:defRPr sz="1600">
                <a:solidFill>
                  <a:schemeClr val="tx2"/>
                </a:solidFill>
              </a:defRPr>
            </a:lvl4pPr>
            <a:lvl5pPr>
              <a:buClr>
                <a:schemeClr val="bg1"/>
              </a:buClr>
              <a:defRPr sz="1600">
                <a:solidFill>
                  <a:schemeClr val="tx2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304800" y="228600"/>
            <a:ext cx="11594592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 bwMode="hidden">
          <a:xfrm>
            <a:off x="282220" y="5353963"/>
            <a:ext cx="11631168" cy="1331580"/>
            <a:chOff x="-3905250" y="4294188"/>
            <a:chExt cx="13011150" cy="1892300"/>
          </a:xfrm>
        </p:grpSpPr>
        <p:sp>
          <p:nvSpPr>
            <p:cNvPr id="10" name="Freeform 14"/>
            <p:cNvSpPr/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1" name="Freeform 18"/>
            <p:cNvSpPr/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2" name="Freeform 22"/>
            <p:cNvSpPr/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3" name="Freeform 26"/>
            <p:cNvSpPr/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 useBgFill="1">
          <p:nvSpPr>
            <p:cNvPr id="14" name="Freeform 10"/>
            <p:cNvSpPr/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8874" y="338667"/>
            <a:ext cx="5083527" cy="2429934"/>
          </a:xfrm>
        </p:spPr>
        <p:txBody>
          <a:bodyPr anchor="b">
            <a:normAutofit/>
          </a:bodyPr>
          <a:lstStyle>
            <a:lvl1pPr algn="l"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91112" y="2785533"/>
            <a:ext cx="5091289" cy="242146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AF70C-9038-4B1A-B041-C25204A264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9BD81-F05F-46E8-9432-16BA3CB204A6}" type="slidenum">
              <a:rPr lang="zh-CN" altLang="en-US" smtClean="0"/>
            </a:fld>
            <a:endParaRPr lang="zh-CN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17600" y="1371600"/>
            <a:ext cx="4754880" cy="2926080"/>
          </a:xfrm>
          <a:prstGeom prst="roundRect">
            <a:avLst>
              <a:gd name="adj" fmla="val 3924"/>
            </a:avLst>
          </a:prstGeom>
          <a:solidFill>
            <a:schemeClr val="accent1"/>
          </a:solidFill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 fov="600000">
              <a:rot lat="240000" lon="19799999" rev="0"/>
            </a:camera>
            <a:lightRig rig="threePt" dir="t">
              <a:rot lat="0" lon="0" rev="2700000"/>
            </a:lightRig>
          </a:scene3d>
          <a:sp3d>
            <a:bevelT w="44450" h="31750"/>
          </a:sp3d>
        </p:spPr>
        <p:txBody>
          <a:bodyPr/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AF70C-9038-4B1A-B041-C25204A264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9BD81-F05F-46E8-9432-16BA3CB204A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ounded Rectangle 20"/>
          <p:cNvSpPr/>
          <p:nvPr/>
        </p:nvSpPr>
        <p:spPr bwMode="hidden">
          <a:xfrm>
            <a:off x="304800" y="228600"/>
            <a:ext cx="11594592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AF70C-9038-4B1A-B041-C25204A264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9BD81-F05F-46E8-9432-16BA3CB204A6}" type="slidenum">
              <a:rPr lang="zh-CN" altLang="en-US" smtClean="0"/>
            </a:fld>
            <a:endParaRPr lang="zh-CN" altLang="en-US"/>
          </a:p>
        </p:txBody>
      </p:sp>
      <p:grpSp>
        <p:nvGrpSpPr>
          <p:cNvPr id="15" name="Group 14"/>
          <p:cNvGrpSpPr>
            <a:grpSpLocks noChangeAspect="1"/>
          </p:cNvGrpSpPr>
          <p:nvPr/>
        </p:nvGrpSpPr>
        <p:grpSpPr bwMode="hidden">
          <a:xfrm>
            <a:off x="282220" y="714191"/>
            <a:ext cx="11631168" cy="1331580"/>
            <a:chOff x="-3905250" y="4294188"/>
            <a:chExt cx="13011150" cy="1892300"/>
          </a:xfrm>
        </p:grpSpPr>
        <p:sp>
          <p:nvSpPr>
            <p:cNvPr id="16" name="Freeform 14"/>
            <p:cNvSpPr/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7" name="Freeform 18"/>
            <p:cNvSpPr/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8" name="Freeform 22"/>
            <p:cNvSpPr/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9" name="Freeform 26"/>
            <p:cNvSpPr/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 useBgFill="1">
          <p:nvSpPr>
            <p:cNvPr id="20" name="Freeform 19"/>
            <p:cNvSpPr/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447801"/>
            <a:ext cx="2743200" cy="4487333"/>
          </a:xfrm>
        </p:spPr>
        <p:txBody>
          <a:bodyPr vert="eaVert" anchor="ctr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447800"/>
            <a:ext cx="8026400" cy="4487334"/>
          </a:xfrm>
        </p:spPr>
        <p:txBody>
          <a:bodyPr vert="eaVert"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304800" y="228600"/>
            <a:ext cx="11594592" cy="2468880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15"/>
          <p:cNvGrpSpPr>
            <a:grpSpLocks noChangeAspect="1"/>
          </p:cNvGrpSpPr>
          <p:nvPr/>
        </p:nvGrpSpPr>
        <p:grpSpPr bwMode="hidden">
          <a:xfrm>
            <a:off x="282220" y="1679429"/>
            <a:ext cx="11631168" cy="1329874"/>
            <a:chOff x="-3905251" y="4294188"/>
            <a:chExt cx="13027839" cy="1892300"/>
          </a:xfrm>
        </p:grpSpPr>
        <p:sp>
          <p:nvSpPr>
            <p:cNvPr id="17" name="Freeform 14"/>
            <p:cNvSpPr/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8" name="Freeform 18"/>
            <p:cNvSpPr/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9" name="Freeform 22"/>
            <p:cNvSpPr/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20" name="Freeform 26"/>
            <p:cNvSpPr/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 useBgFill="1">
          <p:nvSpPr>
            <p:cNvPr id="21" name="Freeform 10"/>
            <p:cNvSpPr/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338328"/>
            <a:ext cx="10972800" cy="12527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84896" y="6250165"/>
            <a:ext cx="50489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fld id="{FE9AF70C-9038-4B1A-B041-C25204A264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185" y="6250165"/>
            <a:ext cx="50489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21451" y="6250164"/>
            <a:ext cx="15491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fld id="{2399BD81-F05F-46E8-9432-16BA3CB204A6}" type="slidenum">
              <a:rPr lang="zh-CN" altLang="en-US" smtClean="0"/>
            </a:fld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62757" y="2675467"/>
            <a:ext cx="9877777" cy="345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anose="05050102010706020507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6580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anose="05050102010706020507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598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anose="05050102010706020507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anose="05050102010706020507" pitchFamily="18" charset="2"/>
        <a:buChar char="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46304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anose="05050102010706020507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5"/>
        </a:spcBef>
        <a:buClr>
          <a:schemeClr val="accent1"/>
        </a:buClr>
        <a:buFont typeface="Symbol" panose="05050102010706020507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5"/>
        </a:spcBef>
        <a:buClr>
          <a:schemeClr val="accent1"/>
        </a:buClr>
        <a:buFont typeface="Symbol" panose="05050102010706020507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5"/>
        </a:spcBef>
        <a:buClr>
          <a:schemeClr val="accent1"/>
        </a:buClr>
        <a:buFont typeface="Symbol" panose="05050102010706020507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5"/>
        </a:spcBef>
        <a:buClr>
          <a:schemeClr val="accent1"/>
        </a:buClr>
        <a:buFont typeface="Symbol" panose="05050102010706020507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932548" y="33339"/>
            <a:ext cx="43269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实验三  存储器</a:t>
            </a:r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</a:rPr>
              <a:t>实验</a:t>
            </a:r>
            <a:endParaRPr lang="zh-CN" altLang="en-US" sz="32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12744" y="385470"/>
            <a:ext cx="955878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一、实验目的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400" dirty="0"/>
              <a:t>1</a:t>
            </a: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zh-CN" altLang="en-US" sz="2400" dirty="0" smtClean="0"/>
              <a:t>了解随机存取存储器 </a:t>
            </a:r>
            <a:r>
              <a:rPr lang="en-US" altLang="zh-CN" sz="2400" dirty="0"/>
              <a:t>RAM </a:t>
            </a:r>
            <a:r>
              <a:rPr lang="zh-CN" altLang="en-US" sz="2400" dirty="0"/>
              <a:t>的原理。 </a:t>
            </a:r>
            <a:endParaRPr lang="en-US" altLang="zh-CN" sz="2400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400" dirty="0"/>
              <a:t>2</a:t>
            </a: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zh-CN" altLang="en-US" sz="2400" dirty="0" smtClean="0"/>
              <a:t>理解 </a:t>
            </a:r>
            <a:r>
              <a:rPr lang="en-US" altLang="zh-CN" sz="2400" dirty="0" smtClean="0"/>
              <a:t>RAM </a:t>
            </a:r>
            <a:r>
              <a:rPr lang="zh-CN" altLang="en-US" sz="2400" dirty="0"/>
              <a:t>读取、写入数据的过程。</a:t>
            </a:r>
            <a:r>
              <a:rPr lang="en-US" altLang="zh-CN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endParaRPr lang="en-US" altLang="zh-CN" sz="2400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2400" dirty="0" smtClean="0"/>
              <a:t>         3</a:t>
            </a:r>
            <a:r>
              <a:rPr lang="zh-CN" altLang="en-US" sz="2400" dirty="0" smtClean="0"/>
              <a:t>、理解</a:t>
            </a:r>
            <a:r>
              <a:rPr lang="zh-CN" altLang="en-US" sz="2400" dirty="0"/>
              <a:t>计算机中存储器地址编址和数据索引方法。</a:t>
            </a:r>
            <a:r>
              <a:rPr lang="en-US" altLang="zh-CN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endParaRPr lang="en-US" altLang="zh-CN" sz="2400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lang="en-US" altLang="zh-CN" sz="2400" dirty="0" smtClean="0"/>
              <a:t>4</a:t>
            </a:r>
            <a:r>
              <a:rPr lang="zh-CN" altLang="en-US" sz="2400" dirty="0" smtClean="0"/>
              <a:t>、熟悉</a:t>
            </a:r>
            <a:r>
              <a:rPr lang="zh-CN" altLang="en-US" sz="2400" dirty="0"/>
              <a:t>并运用 </a:t>
            </a:r>
            <a:r>
              <a:rPr lang="en-US" altLang="zh-CN" sz="2400" dirty="0" err="1"/>
              <a:t>verilog</a:t>
            </a:r>
            <a:r>
              <a:rPr lang="en-US" altLang="zh-CN" sz="2400" dirty="0"/>
              <a:t> </a:t>
            </a:r>
            <a:r>
              <a:rPr lang="zh-CN" altLang="en-US" sz="2400" dirty="0"/>
              <a:t>语言进行电路设计</a:t>
            </a:r>
            <a:r>
              <a:rPr lang="zh-CN" altLang="en-US" sz="2400" dirty="0" smtClean="0"/>
              <a:t>。</a:t>
            </a:r>
            <a:endParaRPr lang="en-US" altLang="zh-CN" sz="2400" dirty="0" smtClean="0"/>
          </a:p>
          <a:p>
            <a:r>
              <a:rPr lang="zh-CN" altLang="en-US" sz="2400" dirty="0" smtClean="0"/>
              <a:t>         </a:t>
            </a:r>
            <a:r>
              <a:rPr lang="en-US" altLang="zh-CN" sz="2400" dirty="0" smtClean="0"/>
              <a:t>5</a:t>
            </a:r>
            <a:r>
              <a:rPr lang="zh-CN" altLang="en-US" sz="2400" dirty="0" smtClean="0"/>
              <a:t>、</a:t>
            </a:r>
            <a:r>
              <a:rPr lang="en-US" altLang="zh-CN" sz="2400" dirty="0" smtClean="0"/>
              <a:t> </a:t>
            </a:r>
            <a:r>
              <a:rPr lang="zh-CN" altLang="en-US" sz="2400" dirty="0"/>
              <a:t>为后续设计 </a:t>
            </a:r>
            <a:r>
              <a:rPr lang="en-US" altLang="zh-CN" sz="2400" dirty="0" err="1"/>
              <a:t>cpu</a:t>
            </a:r>
            <a:r>
              <a:rPr lang="en-US" altLang="zh-CN" sz="2400" dirty="0"/>
              <a:t> </a:t>
            </a:r>
            <a:r>
              <a:rPr lang="zh-CN" altLang="en-US" sz="2400" dirty="0"/>
              <a:t>的实验打下基础。</a:t>
            </a:r>
            <a:endParaRPr lang="en-US" altLang="zh-CN" sz="2400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sz="2400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65609" y="2596024"/>
            <a:ext cx="955878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二、实验设备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400" dirty="0"/>
              <a:t>1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zh-CN" altLang="en-US" sz="2400" dirty="0"/>
              <a:t>装有 </a:t>
            </a:r>
            <a:r>
              <a:rPr lang="en-US" altLang="zh-CN" sz="2400" dirty="0"/>
              <a:t>Xilinx </a:t>
            </a:r>
            <a:r>
              <a:rPr lang="en-US" altLang="zh-CN" sz="2400" dirty="0" err="1"/>
              <a:t>Vivado</a:t>
            </a:r>
            <a:r>
              <a:rPr lang="zh-CN" altLang="en-US" sz="2400" dirty="0"/>
              <a:t>的计算机一台</a:t>
            </a:r>
            <a:endParaRPr lang="en-US" altLang="zh-CN" sz="2400" dirty="0"/>
          </a:p>
          <a:p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400" dirty="0"/>
              <a:t>2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400" dirty="0"/>
              <a:t>LS-CPU-EXB-002</a:t>
            </a:r>
            <a:r>
              <a:rPr lang="zh-CN" altLang="en-US" sz="2400" dirty="0"/>
              <a:t>教学系统实验箱一套</a:t>
            </a:r>
            <a:endParaRPr lang="en-US" altLang="zh-CN" sz="2400" dirty="0"/>
          </a:p>
        </p:txBody>
      </p:sp>
      <p:sp>
        <p:nvSpPr>
          <p:cNvPr id="9" name="文本框 8"/>
          <p:cNvSpPr txBox="1"/>
          <p:nvPr/>
        </p:nvSpPr>
        <p:spPr>
          <a:xfrm>
            <a:off x="518474" y="3730346"/>
            <a:ext cx="11481848" cy="3046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三、实验内容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400" dirty="0"/>
              <a:t>1</a:t>
            </a: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zh-CN" altLang="en-US" sz="2400" dirty="0"/>
              <a:t>学习存储器的设计及</a:t>
            </a:r>
            <a:r>
              <a:rPr lang="zh-CN" altLang="en-US" sz="2400" dirty="0" smtClean="0"/>
              <a:t>原理和计算机</a:t>
            </a:r>
            <a:r>
              <a:rPr lang="zh-CN" altLang="en-US" sz="2400" dirty="0"/>
              <a:t>中内存地址编址和数据索引方法。</a:t>
            </a:r>
            <a:r>
              <a:rPr lang="en-US" altLang="zh-CN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endParaRPr lang="en-US" altLang="zh-CN" sz="2400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lang="en-US" altLang="zh-CN" sz="2400" dirty="0" smtClean="0"/>
              <a:t>2 </a:t>
            </a:r>
            <a:r>
              <a:rPr lang="zh-CN" altLang="en-US" sz="2400" dirty="0" smtClean="0"/>
              <a:t>、搭建</a:t>
            </a:r>
            <a:r>
              <a:rPr lang="zh-CN" altLang="en-US" sz="2400" dirty="0"/>
              <a:t>一个异步的</a:t>
            </a:r>
            <a:r>
              <a:rPr lang="en-US" altLang="zh-CN" sz="2400" dirty="0"/>
              <a:t>RAM</a:t>
            </a:r>
            <a:r>
              <a:rPr lang="zh-CN" altLang="en-US" sz="2400" dirty="0"/>
              <a:t>，能够正确地将数据写入指定地址并读出。</a:t>
            </a:r>
            <a:r>
              <a:rPr lang="en-US" altLang="zh-CN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endParaRPr lang="en-US" altLang="zh-CN" sz="2400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lang="en-US" altLang="zh-CN" sz="2400" dirty="0"/>
              <a:t>3</a:t>
            </a: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zh-CN" altLang="en-US" sz="2400" dirty="0"/>
              <a:t>将以上设计作为一个单独的模块，设计一个外围模块去调用它，外围模块中需要调用封装好的触摸屏模块。</a:t>
            </a:r>
            <a:endParaRPr lang="en-US" altLang="zh-CN" sz="2400" dirty="0"/>
          </a:p>
          <a:p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lang="en-US" altLang="zh-CN" sz="2400" dirty="0"/>
              <a:t>4</a:t>
            </a: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zh-CN" altLang="en-US" sz="2400" dirty="0"/>
              <a:t>向地址为</a:t>
            </a:r>
            <a:r>
              <a:rPr lang="en-US" altLang="zh-CN" sz="2400" dirty="0"/>
              <a:t>50H-55H</a:t>
            </a:r>
            <a:r>
              <a:rPr lang="zh-CN" altLang="en-US" sz="2400" dirty="0"/>
              <a:t>的六个单元送</a:t>
            </a:r>
            <a:r>
              <a:rPr lang="en-US" altLang="zh-CN" sz="2400" dirty="0"/>
              <a:t>70H-75H</a:t>
            </a:r>
            <a:r>
              <a:rPr lang="zh-CN" altLang="en-US" sz="2400" dirty="0"/>
              <a:t>六个数，验收时任意指定一个地址，输出其存储的数据。</a:t>
            </a:r>
            <a:endParaRPr lang="en-US" altLang="zh-CN" sz="2400" dirty="0"/>
          </a:p>
          <a:p>
            <a:r>
              <a:rPr lang="en-US" altLang="zh-CN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400" dirty="0"/>
              <a:t>5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zh-CN" altLang="en-US" sz="2400" dirty="0"/>
              <a:t>进行综合布局布线，下载到实验箱的</a:t>
            </a:r>
            <a:r>
              <a:rPr lang="en-US" altLang="zh-CN" sz="2400" dirty="0"/>
              <a:t>FPGA</a:t>
            </a:r>
            <a:r>
              <a:rPr lang="zh-CN" altLang="en-US" sz="2400" dirty="0"/>
              <a:t>板上进行演示。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76170" y="650243"/>
            <a:ext cx="12015830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四、实验</a:t>
            </a: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步骤</a:t>
            </a:r>
            <a:endParaRPr lang="en-US" altLang="zh-CN" sz="2400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2400" dirty="0"/>
              <a:t>1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zh-CN" altLang="en-US" sz="2400" dirty="0"/>
              <a:t>启动</a:t>
            </a:r>
            <a:r>
              <a:rPr lang="en-US" altLang="zh-CN" sz="2400" dirty="0" err="1"/>
              <a:t>Vivado</a:t>
            </a:r>
            <a:r>
              <a:rPr lang="zh-CN" altLang="en-US" sz="2400" dirty="0"/>
              <a:t>，选择</a:t>
            </a:r>
            <a:r>
              <a:rPr lang="en-US" altLang="zh-CN" sz="2400" dirty="0"/>
              <a:t>File-&gt;New Project</a:t>
            </a:r>
            <a:r>
              <a:rPr lang="zh-CN" altLang="en-US" sz="2400" dirty="0"/>
              <a:t>，输入工程名称，选择工程文件的路径</a:t>
            </a:r>
            <a:endParaRPr lang="en-US" altLang="zh-CN" sz="2400" dirty="0"/>
          </a:p>
          <a:p>
            <a:r>
              <a:rPr lang="en-US" altLang="zh-CN" sz="2400" dirty="0"/>
              <a:t>2</a:t>
            </a:r>
            <a:r>
              <a:rPr lang="zh-CN" altLang="en-US" sz="2400" dirty="0"/>
              <a:t>、</a:t>
            </a:r>
            <a:r>
              <a:rPr lang="zh-CN" altLang="en-US" sz="2400" dirty="0"/>
              <a:t>选择</a:t>
            </a:r>
            <a:r>
              <a:rPr lang="en-US" altLang="zh-CN" sz="2400" dirty="0"/>
              <a:t>RTL Project</a:t>
            </a:r>
            <a:r>
              <a:rPr lang="zh-CN" altLang="en-US" sz="2400" dirty="0"/>
              <a:t>，勾选</a:t>
            </a:r>
            <a:r>
              <a:rPr lang="en-US" altLang="zh-CN" sz="2400" dirty="0"/>
              <a:t>Do not specify sources at this time</a:t>
            </a:r>
            <a:endParaRPr lang="en-US" altLang="zh-CN" sz="2400" dirty="0"/>
          </a:p>
          <a:p>
            <a:r>
              <a:rPr lang="en-US" altLang="zh-CN" sz="2400" dirty="0"/>
              <a:t>3</a:t>
            </a:r>
            <a:r>
              <a:rPr lang="zh-CN" altLang="en-US" sz="2400" dirty="0"/>
              <a:t>、在筛选器中进行如下选择：</a:t>
            </a:r>
            <a:endParaRPr lang="en-US" altLang="zh-CN" sz="2400" dirty="0"/>
          </a:p>
          <a:p>
            <a:r>
              <a:rPr lang="en-US" altLang="zh-CN" sz="2400" dirty="0"/>
              <a:t>   </a:t>
            </a:r>
            <a:r>
              <a:rPr lang="en-US" altLang="zh-CN" sz="2400" dirty="0"/>
              <a:t>family-&gt;Artix7 package-&gt;fbg676  </a:t>
            </a:r>
            <a:r>
              <a:rPr lang="zh-CN" altLang="en-US" sz="2400" dirty="0"/>
              <a:t>最后选择型号</a:t>
            </a:r>
            <a:r>
              <a:rPr lang="en-US" altLang="zh-CN" sz="2400" dirty="0"/>
              <a:t>xc7a200tfbg676-2</a:t>
            </a:r>
            <a:endParaRPr lang="en-US" altLang="zh-CN" sz="2400" dirty="0"/>
          </a:p>
          <a:p>
            <a:r>
              <a:rPr lang="en-US" altLang="zh-CN" sz="2400" dirty="0"/>
              <a:t>4</a:t>
            </a:r>
            <a:r>
              <a:rPr lang="zh-CN" altLang="en-US" sz="2400" dirty="0"/>
              <a:t>、添加源文件</a:t>
            </a:r>
            <a:r>
              <a:rPr lang="en-US" altLang="zh-CN" sz="2400" dirty="0"/>
              <a:t>Project Manager-&gt;Add sources-&gt;Add or create design sources</a:t>
            </a:r>
            <a:endParaRPr lang="en-US" altLang="zh-CN" sz="2400" dirty="0"/>
          </a:p>
          <a:p>
            <a:r>
              <a:rPr lang="en-US" altLang="zh-CN" sz="2400" dirty="0"/>
              <a:t>    -&gt;Create File,</a:t>
            </a:r>
            <a:r>
              <a:rPr lang="zh-CN" altLang="en-US" sz="2400" dirty="0"/>
              <a:t>开始输入程序</a:t>
            </a:r>
            <a:r>
              <a:rPr lang="zh-CN" altLang="en-US" sz="2400" dirty="0"/>
              <a:t>代码</a:t>
            </a:r>
            <a:endParaRPr lang="en-US" altLang="zh-CN" sz="2400" dirty="0"/>
          </a:p>
          <a:p>
            <a:r>
              <a:rPr lang="en-US" altLang="zh-CN" sz="2400" dirty="0"/>
              <a:t>5</a:t>
            </a:r>
            <a:r>
              <a:rPr lang="zh-CN" altLang="en-US" sz="2400" dirty="0"/>
              <a:t>、添加外围模块，该模块调用加法器和触摸屏模块以便在实验箱上输入原始数据和输  </a:t>
            </a:r>
            <a:endParaRPr lang="en-US" altLang="zh-CN" sz="2400" dirty="0"/>
          </a:p>
          <a:p>
            <a:r>
              <a:rPr lang="en-US" altLang="zh-CN" sz="2400" dirty="0"/>
              <a:t> </a:t>
            </a:r>
            <a:r>
              <a:rPr lang="en-US" altLang="zh-CN" sz="2400" dirty="0"/>
              <a:t>  </a:t>
            </a:r>
            <a:r>
              <a:rPr lang="zh-CN" altLang="en-US" sz="2400" dirty="0"/>
              <a:t>出结果。</a:t>
            </a:r>
            <a:endParaRPr lang="en-US" altLang="zh-CN" sz="2400" dirty="0"/>
          </a:p>
          <a:p>
            <a:r>
              <a:rPr lang="en-US" altLang="zh-CN" sz="2400" dirty="0"/>
              <a:t>6</a:t>
            </a:r>
            <a:r>
              <a:rPr lang="zh-CN" altLang="en-US" sz="2400" dirty="0"/>
              <a:t>、将封装好的触摸屏模块添加进工程，用户只需要直接调用。继续选择</a:t>
            </a:r>
            <a:r>
              <a:rPr lang="en-US" altLang="zh-CN" sz="2400" dirty="0"/>
              <a:t>Add </a:t>
            </a:r>
            <a:r>
              <a:rPr lang="en-US" altLang="zh-CN" sz="2400" dirty="0"/>
              <a:t>sources</a:t>
            </a:r>
            <a:r>
              <a:rPr lang="zh-CN" altLang="en-US" sz="2400" dirty="0"/>
              <a:t>，</a:t>
            </a:r>
            <a:endParaRPr lang="en-US" altLang="zh-CN" sz="2400" dirty="0"/>
          </a:p>
          <a:p>
            <a:r>
              <a:rPr lang="en-US" altLang="zh-CN" sz="2400" dirty="0"/>
              <a:t> </a:t>
            </a:r>
            <a:r>
              <a:rPr lang="en-US" altLang="zh-CN" sz="2400" dirty="0"/>
              <a:t>  </a:t>
            </a:r>
            <a:r>
              <a:rPr lang="zh-CN" altLang="en-US" sz="2400" dirty="0"/>
              <a:t>添加</a:t>
            </a:r>
            <a:r>
              <a:rPr lang="en-US" altLang="zh-CN" sz="2400" dirty="0" err="1"/>
              <a:t>lcd_module.dcp</a:t>
            </a:r>
            <a:r>
              <a:rPr lang="en-US" altLang="zh-CN" sz="2400" dirty="0"/>
              <a:t>.</a:t>
            </a:r>
            <a:endParaRPr lang="en-US" altLang="zh-CN" sz="2400" dirty="0"/>
          </a:p>
          <a:p>
            <a:r>
              <a:rPr lang="en-US" altLang="zh-CN" sz="2400" dirty="0" smtClean="0"/>
              <a:t>7</a:t>
            </a:r>
            <a:r>
              <a:rPr lang="zh-CN" altLang="en-US" sz="2400" dirty="0" smtClean="0"/>
              <a:t>、</a:t>
            </a:r>
            <a:r>
              <a:rPr lang="zh-CN" altLang="en-US" sz="2400" dirty="0"/>
              <a:t>添加引脚绑定的约束文件，扩展名为</a:t>
            </a:r>
            <a:r>
              <a:rPr lang="en-US" altLang="zh-CN" sz="2400" dirty="0"/>
              <a:t>.</a:t>
            </a:r>
            <a:r>
              <a:rPr lang="en-US" altLang="zh-CN" sz="2400" dirty="0" err="1"/>
              <a:t>xdc</a:t>
            </a:r>
            <a:r>
              <a:rPr lang="zh-CN" altLang="en-US" sz="2400" dirty="0"/>
              <a:t>。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2004" y="487025"/>
            <a:ext cx="11736198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/>
              <a:t>8</a:t>
            </a:r>
            <a:r>
              <a:rPr lang="zh-CN" altLang="en-US" sz="2400" dirty="0" smtClean="0"/>
              <a:t>、</a:t>
            </a:r>
            <a:r>
              <a:rPr lang="zh-CN" altLang="en-US" sz="2400" dirty="0"/>
              <a:t>也可以</a:t>
            </a:r>
            <a:r>
              <a:rPr lang="zh-CN" altLang="en-US" sz="2400" dirty="0"/>
              <a:t>通过</a:t>
            </a:r>
            <a:r>
              <a:rPr lang="en-US" altLang="zh-CN" sz="2400" dirty="0" err="1"/>
              <a:t>Vivado</a:t>
            </a:r>
            <a:r>
              <a:rPr lang="zh-CN" altLang="en-US" sz="2400" dirty="0"/>
              <a:t>中的</a:t>
            </a:r>
            <a:r>
              <a:rPr lang="en-US" altLang="zh-CN" sz="2400" dirty="0"/>
              <a:t>I/O Planning</a:t>
            </a:r>
            <a:r>
              <a:rPr lang="zh-CN" altLang="en-US" sz="2400" dirty="0"/>
              <a:t>功能</a:t>
            </a:r>
            <a:r>
              <a:rPr lang="zh-CN" altLang="en-US" sz="2400" dirty="0"/>
              <a:t>来产生约束文件</a:t>
            </a:r>
            <a:r>
              <a:rPr lang="zh-CN" altLang="en-US" sz="2400" dirty="0"/>
              <a:t>。</a:t>
            </a:r>
            <a:endParaRPr lang="zh-CN" altLang="en-US" sz="2400" dirty="0"/>
          </a:p>
          <a:p>
            <a:r>
              <a:rPr lang="zh-CN" altLang="en-US" sz="2400" dirty="0"/>
              <a:t>   点击</a:t>
            </a:r>
            <a:r>
              <a:rPr lang="en-US" altLang="zh-CN" sz="2400" dirty="0"/>
              <a:t>Flow Navigator</a:t>
            </a:r>
            <a:r>
              <a:rPr lang="zh-CN" altLang="en-US" sz="2400" dirty="0"/>
              <a:t>中</a:t>
            </a:r>
            <a:r>
              <a:rPr lang="en-US" altLang="zh-CN" sz="2400" dirty="0"/>
              <a:t>Synthesis</a:t>
            </a:r>
            <a:r>
              <a:rPr lang="zh-CN" altLang="en-US" sz="2400" dirty="0"/>
              <a:t>下</a:t>
            </a:r>
            <a:r>
              <a:rPr lang="zh-CN" altLang="en-US" sz="2400" dirty="0"/>
              <a:t>的</a:t>
            </a:r>
            <a:r>
              <a:rPr lang="en-US" altLang="zh-CN" sz="2400" dirty="0"/>
              <a:t>Run Synthesis</a:t>
            </a:r>
            <a:r>
              <a:rPr lang="zh-CN" altLang="en-US" sz="2400" dirty="0"/>
              <a:t>，</a:t>
            </a:r>
            <a:r>
              <a:rPr lang="zh-CN" altLang="en-US" sz="2400" dirty="0"/>
              <a:t>进行综合，综合完成后</a:t>
            </a:r>
            <a:r>
              <a:rPr lang="zh-CN" altLang="en-US" sz="2400" dirty="0"/>
              <a:t>选择</a:t>
            </a:r>
            <a:r>
              <a:rPr lang="en-US" altLang="zh-CN" sz="2400" dirty="0"/>
              <a:t>Open Synthesized Design</a:t>
            </a:r>
            <a:r>
              <a:rPr lang="zh-CN" altLang="en-US" sz="2400" dirty="0"/>
              <a:t>，</a:t>
            </a:r>
            <a:r>
              <a:rPr lang="zh-CN" altLang="en-US" sz="2400" dirty="0"/>
              <a:t>查看综合结果。</a:t>
            </a:r>
            <a:r>
              <a:rPr lang="zh-CN" altLang="en-US" sz="2400" dirty="0"/>
              <a:t>参照</a:t>
            </a:r>
            <a:r>
              <a:rPr lang="zh-CN" altLang="en-US" sz="2400" dirty="0"/>
              <a:t>实验板原理图和引脚对应关系表，</a:t>
            </a:r>
            <a:r>
              <a:rPr lang="zh-CN" altLang="en-US" sz="2400" dirty="0"/>
              <a:t>在</a:t>
            </a:r>
            <a:r>
              <a:rPr lang="en-US" altLang="zh-CN" sz="2400" dirty="0"/>
              <a:t>I/O Ports</a:t>
            </a:r>
            <a:r>
              <a:rPr lang="zh-CN" altLang="en-US" sz="2400" dirty="0"/>
              <a:t>栏</a:t>
            </a:r>
            <a:r>
              <a:rPr lang="zh-CN" altLang="en-US" sz="2400" dirty="0"/>
              <a:t>下输入正确</a:t>
            </a:r>
            <a:r>
              <a:rPr lang="zh-CN" altLang="en-US" sz="2400" dirty="0"/>
              <a:t>的</a:t>
            </a:r>
            <a:r>
              <a:rPr lang="en-US" altLang="zh-CN" sz="2400" dirty="0"/>
              <a:t>Package Pin</a:t>
            </a:r>
            <a:r>
              <a:rPr lang="zh-CN" altLang="en-US" sz="2400" dirty="0"/>
              <a:t>，</a:t>
            </a:r>
            <a:r>
              <a:rPr lang="zh-CN" altLang="en-US" sz="2400" dirty="0"/>
              <a:t>针对本实验板</a:t>
            </a:r>
            <a:r>
              <a:rPr lang="zh-CN" altLang="en-US" sz="2400" dirty="0"/>
              <a:t>，</a:t>
            </a:r>
            <a:r>
              <a:rPr lang="en-US" altLang="zh-CN" sz="2400" dirty="0"/>
              <a:t>I/O </a:t>
            </a:r>
            <a:r>
              <a:rPr lang="en-US" altLang="zh-CN" sz="2400" dirty="0" err="1"/>
              <a:t>Std</a:t>
            </a:r>
            <a:r>
              <a:rPr lang="zh-CN" altLang="en-US" sz="2400" dirty="0"/>
              <a:t>要</a:t>
            </a:r>
            <a:r>
              <a:rPr lang="zh-CN" altLang="en-US" sz="2400" dirty="0"/>
              <a:t>统一设置为</a:t>
            </a:r>
            <a:r>
              <a:rPr lang="en-US" altLang="zh-CN" sz="2400" dirty="0"/>
              <a:t>LVCM0S33</a:t>
            </a:r>
            <a:r>
              <a:rPr lang="zh-CN" altLang="en-US" sz="2400" dirty="0"/>
              <a:t>。设置完成保存为约束文件。</a:t>
            </a:r>
            <a:endParaRPr lang="en-US" altLang="zh-CN" sz="2400" dirty="0"/>
          </a:p>
          <a:p>
            <a:r>
              <a:rPr lang="en-US" altLang="zh-CN" sz="2400" dirty="0" smtClean="0"/>
              <a:t>9</a:t>
            </a:r>
            <a:r>
              <a:rPr lang="zh-CN" altLang="en-US" sz="2400" dirty="0" smtClean="0"/>
              <a:t>、</a:t>
            </a:r>
            <a:r>
              <a:rPr lang="zh-CN" altLang="en-US" sz="2400" dirty="0"/>
              <a:t>综合、布局布线并产生可烧写文件，扩展名为</a:t>
            </a:r>
            <a:r>
              <a:rPr lang="en-US" altLang="zh-CN" sz="2400" dirty="0"/>
              <a:t>.bit</a:t>
            </a:r>
            <a:r>
              <a:rPr lang="zh-CN" altLang="en-US" sz="2400" dirty="0"/>
              <a:t>。可以依次双击运行，也可以只双击</a:t>
            </a:r>
            <a:r>
              <a:rPr lang="en-US" altLang="zh-CN" sz="2400" dirty="0"/>
              <a:t>Generate </a:t>
            </a:r>
            <a:r>
              <a:rPr lang="en-US" altLang="zh-CN" sz="2400" dirty="0" err="1"/>
              <a:t>Bitstream</a:t>
            </a:r>
            <a:r>
              <a:rPr lang="zh-CN" altLang="en-US" sz="2400" dirty="0"/>
              <a:t>，会自动运行这三步。</a:t>
            </a:r>
            <a:endParaRPr lang="en-US" altLang="zh-CN" sz="2400" dirty="0"/>
          </a:p>
          <a:p>
            <a:r>
              <a:rPr lang="en-US" altLang="zh-CN" sz="2400" dirty="0" smtClean="0"/>
              <a:t>10</a:t>
            </a:r>
            <a:r>
              <a:rPr lang="zh-CN" altLang="en-US" sz="2400" dirty="0" smtClean="0"/>
              <a:t>、</a:t>
            </a:r>
            <a:r>
              <a:rPr lang="zh-CN" altLang="en-US" sz="2400" dirty="0"/>
              <a:t>打开实验箱电源，在比特流文件生成完成的窗口选择</a:t>
            </a:r>
            <a:r>
              <a:rPr lang="en-US" altLang="zh-CN" sz="2400" dirty="0"/>
              <a:t>Open Hardware Manager</a:t>
            </a:r>
            <a:r>
              <a:rPr lang="zh-CN" altLang="en-US" sz="2400" dirty="0"/>
              <a:t>，进入硬件管理界面。在</a:t>
            </a:r>
            <a:r>
              <a:rPr lang="en-US" altLang="zh-CN" sz="2400" dirty="0"/>
              <a:t>Hardware Manager</a:t>
            </a:r>
            <a:r>
              <a:rPr lang="zh-CN" altLang="en-US" sz="2400" dirty="0"/>
              <a:t>窗口的提示信息中，点击</a:t>
            </a:r>
            <a:r>
              <a:rPr lang="en-US" altLang="zh-CN" sz="2400" dirty="0"/>
              <a:t>Open Target</a:t>
            </a:r>
            <a:r>
              <a:rPr lang="zh-CN" altLang="en-US" sz="2400" dirty="0"/>
              <a:t>，选择</a:t>
            </a:r>
            <a:r>
              <a:rPr lang="en-US" altLang="zh-CN" sz="2400" dirty="0"/>
              <a:t>Auto Connect</a:t>
            </a:r>
            <a:r>
              <a:rPr lang="zh-CN" altLang="en-US" sz="2400" dirty="0"/>
              <a:t>自动连接器件。</a:t>
            </a:r>
            <a:endParaRPr lang="en-US" altLang="zh-CN" sz="2400" dirty="0"/>
          </a:p>
          <a:p>
            <a:r>
              <a:rPr lang="en-US" altLang="zh-CN" sz="2400" dirty="0" smtClean="0"/>
              <a:t>11</a:t>
            </a:r>
            <a:r>
              <a:rPr lang="zh-CN" altLang="en-US" sz="2400" dirty="0" smtClean="0"/>
              <a:t>、</a:t>
            </a:r>
            <a:r>
              <a:rPr lang="zh-CN" altLang="en-US" sz="2400" dirty="0"/>
              <a:t>对目标硬件编程，在</a:t>
            </a:r>
            <a:r>
              <a:rPr lang="en-US" altLang="zh-CN" sz="2400" dirty="0"/>
              <a:t>Hardware</a:t>
            </a:r>
            <a:r>
              <a:rPr lang="zh-CN" altLang="en-US" sz="2400" dirty="0"/>
              <a:t>窗口右键单击目标器件</a:t>
            </a:r>
            <a:r>
              <a:rPr lang="en-US" altLang="zh-CN" sz="2400" dirty="0"/>
              <a:t>cx7a200t_0</a:t>
            </a:r>
            <a:r>
              <a:rPr lang="zh-CN" altLang="en-US" sz="2400" dirty="0"/>
              <a:t>，选择</a:t>
            </a:r>
            <a:r>
              <a:rPr lang="en-US" altLang="zh-CN" sz="2400" dirty="0"/>
              <a:t>Program Device…</a:t>
            </a:r>
            <a:r>
              <a:rPr lang="zh-CN" altLang="en-US" sz="2400" dirty="0"/>
              <a:t>，选择下载的</a:t>
            </a:r>
            <a:r>
              <a:rPr lang="en-US" altLang="zh-CN" sz="2400" dirty="0"/>
              <a:t>bit</a:t>
            </a:r>
            <a:r>
              <a:rPr lang="zh-CN" altLang="en-US" sz="2400" dirty="0"/>
              <a:t>流文件，点击</a:t>
            </a:r>
            <a:r>
              <a:rPr lang="en-US" altLang="zh-CN" sz="2400" dirty="0"/>
              <a:t>Program</a:t>
            </a:r>
            <a:r>
              <a:rPr lang="zh-CN" altLang="en-US" sz="2400" dirty="0"/>
              <a:t>，完成下载后，窗口下的</a:t>
            </a:r>
            <a:r>
              <a:rPr lang="en-US" altLang="zh-CN" sz="2400" dirty="0"/>
              <a:t>cx7a200t_0</a:t>
            </a:r>
            <a:r>
              <a:rPr lang="zh-CN" altLang="en-US" sz="2400" dirty="0"/>
              <a:t>状态变成</a:t>
            </a:r>
            <a:r>
              <a:rPr lang="en-US" altLang="zh-CN" sz="2400" dirty="0"/>
              <a:t>Programmed</a:t>
            </a:r>
            <a:r>
              <a:rPr lang="zh-CN" altLang="en-US" sz="2400" dirty="0"/>
              <a:t>。</a:t>
            </a:r>
            <a:endParaRPr lang="en-US" altLang="zh-CN" sz="2400" dirty="0"/>
          </a:p>
          <a:p>
            <a:r>
              <a:rPr lang="en-US" altLang="zh-CN" sz="2400" dirty="0" smtClean="0"/>
              <a:t>12</a:t>
            </a:r>
            <a:r>
              <a:rPr lang="zh-CN" altLang="en-US" sz="2400" dirty="0" smtClean="0"/>
              <a:t>、</a:t>
            </a:r>
            <a:r>
              <a:rPr lang="zh-CN" altLang="en-US" sz="2400" dirty="0"/>
              <a:t>通过触摸屏完成数据输入和结果显示，验证实验的正确性。</a:t>
            </a:r>
            <a:endParaRPr lang="en-US" altLang="zh-CN" sz="2400" dirty="0"/>
          </a:p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五、记录实验结果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六、撰写实验报告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波形">
  <a:themeElements>
    <a:clrScheme name="波形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波形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波形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>
            <a:fillRect/>
          </a:stretch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Waveform</Template>
  <TotalTime>0</TotalTime>
  <Words>1417</Words>
  <Application>WPS 演示</Application>
  <PresentationFormat>宽屏</PresentationFormat>
  <Paragraphs>47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5" baseType="lpstr">
      <vt:lpstr>Arial</vt:lpstr>
      <vt:lpstr>宋体</vt:lpstr>
      <vt:lpstr>Wingdings</vt:lpstr>
      <vt:lpstr>Symbol</vt:lpstr>
      <vt:lpstr>黑体</vt:lpstr>
      <vt:lpstr>Candara</vt:lpstr>
      <vt:lpstr>华文楷体</vt:lpstr>
      <vt:lpstr>微软雅黑</vt:lpstr>
      <vt:lpstr>Arial Unicode MS</vt:lpstr>
      <vt:lpstr>华文新魏</vt:lpstr>
      <vt:lpstr>Calibri</vt:lpstr>
      <vt:lpstr>波形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扼 腕重来</dc:creator>
  <cp:lastModifiedBy>admin</cp:lastModifiedBy>
  <cp:revision>20</cp:revision>
  <dcterms:created xsi:type="dcterms:W3CDTF">2020-08-31T13:13:00Z</dcterms:created>
  <dcterms:modified xsi:type="dcterms:W3CDTF">2021-10-26T00:37:27Z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350CF8F151BC468FBEC3C94CC8FCC6EE</vt:lpwstr>
  </property>
  <property fmtid="{D5CDD505-2E9C-101B-9397-08002B2CF9AE}" pid="3" name="KSOProductBuildVer">
    <vt:lpwstr>2052-11.1.0.10578</vt:lpwstr>
  </property>
</Properties>
</file>