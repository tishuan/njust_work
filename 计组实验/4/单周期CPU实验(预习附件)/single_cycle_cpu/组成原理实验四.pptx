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2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74606" y="41564"/>
            <a:ext cx="5161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实验四  单周期</a:t>
            </a:r>
            <a:r>
              <a:rPr lang="en-US" altLang="zh-CN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030" y="626110"/>
            <a:ext cx="109207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/>
              <a:t>1</a:t>
            </a:r>
            <a:r>
              <a:rPr lang="en-US" altLang="zh-CN" sz="2000" dirty="0"/>
              <a:t>. </a:t>
            </a:r>
            <a:r>
              <a:rPr lang="zh-CN" altLang="en-US" sz="2000" dirty="0"/>
              <a:t>理解 </a:t>
            </a:r>
            <a:r>
              <a:rPr lang="en-US" altLang="zh-CN" sz="2000" dirty="0"/>
              <a:t>MIPS </a:t>
            </a:r>
            <a:r>
              <a:rPr lang="zh-CN" altLang="en-US" sz="2000" dirty="0"/>
              <a:t>指令结构，理解 </a:t>
            </a:r>
            <a:r>
              <a:rPr lang="en-US" altLang="zh-CN" sz="2000" dirty="0"/>
              <a:t>MIPS </a:t>
            </a:r>
            <a:r>
              <a:rPr lang="zh-CN" altLang="en-US" sz="2000" dirty="0"/>
              <a:t>指令集中常用指令的功能和编码，学会对这些 指令进行归纳分类。 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 2</a:t>
            </a:r>
            <a:r>
              <a:rPr lang="en-US" altLang="zh-CN" sz="2000" dirty="0"/>
              <a:t>. </a:t>
            </a:r>
            <a:r>
              <a:rPr lang="zh-CN" altLang="en-US" sz="2000" dirty="0"/>
              <a:t>了解熟悉 </a:t>
            </a:r>
            <a:r>
              <a:rPr lang="en-US" altLang="zh-CN" sz="2000" dirty="0"/>
              <a:t>MIPS </a:t>
            </a:r>
            <a:r>
              <a:rPr lang="zh-CN" altLang="en-US" sz="2000" dirty="0"/>
              <a:t>体系的处理器结构，如延迟槽，哈佛结构的概念。 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  </a:t>
            </a:r>
            <a:r>
              <a:rPr lang="en-US" altLang="zh-CN" sz="2000" dirty="0" smtClean="0"/>
              <a:t>3</a:t>
            </a:r>
            <a:r>
              <a:rPr lang="en-US" altLang="zh-CN" sz="2000" dirty="0"/>
              <a:t>. </a:t>
            </a:r>
            <a:r>
              <a:rPr lang="zh-CN" altLang="en-US" sz="2000" dirty="0"/>
              <a:t>熟悉并掌握单周期 </a:t>
            </a:r>
            <a:r>
              <a:rPr lang="en-US" altLang="zh-CN" sz="2000" dirty="0"/>
              <a:t>CPU </a:t>
            </a:r>
            <a:r>
              <a:rPr lang="zh-CN" altLang="en-US" sz="2000" dirty="0"/>
              <a:t>的原理和设计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4. </a:t>
            </a:r>
            <a:r>
              <a:rPr lang="zh-CN" altLang="en-US" sz="2000" dirty="0"/>
              <a:t>进一步加强运用 </a:t>
            </a:r>
            <a:r>
              <a:rPr lang="en-US" altLang="zh-CN" sz="2000" dirty="0" err="1"/>
              <a:t>verilog</a:t>
            </a:r>
            <a:r>
              <a:rPr lang="en-US" altLang="zh-CN" sz="2000" dirty="0"/>
              <a:t> </a:t>
            </a:r>
            <a:r>
              <a:rPr lang="zh-CN" altLang="en-US" sz="2000" dirty="0"/>
              <a:t>语言进行电路设计的能力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5. </a:t>
            </a:r>
            <a:r>
              <a:rPr lang="zh-CN" altLang="en-US" sz="2000" dirty="0"/>
              <a:t>为后续设计多周期 </a:t>
            </a:r>
            <a:r>
              <a:rPr lang="en-US" altLang="zh-CN" sz="2000" dirty="0" err="1"/>
              <a:t>cpu</a:t>
            </a:r>
            <a:r>
              <a:rPr lang="en-US" altLang="zh-CN" sz="2000" dirty="0"/>
              <a:t> </a:t>
            </a:r>
            <a:r>
              <a:rPr lang="zh-CN" altLang="en-US" sz="2000" dirty="0"/>
              <a:t>的实验打下基础。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474" y="2945541"/>
            <a:ext cx="9558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/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000" dirty="0"/>
              <a:t>装有 </a:t>
            </a:r>
            <a:r>
              <a:rPr lang="en-US" altLang="zh-CN" sz="2000" dirty="0"/>
              <a:t>Xilinx </a:t>
            </a:r>
            <a:r>
              <a:rPr lang="en-US" altLang="zh-CN" sz="2000" dirty="0" err="1"/>
              <a:t>Vivado</a:t>
            </a:r>
            <a:r>
              <a:rPr lang="zh-CN" altLang="en-US" sz="2000" dirty="0"/>
              <a:t>的计算机一台</a:t>
            </a:r>
            <a:endParaRPr lang="en-US" altLang="zh-CN" sz="2000" dirty="0"/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/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/>
              <a:t>LS-CPU-EXB-002</a:t>
            </a:r>
            <a:r>
              <a:rPr lang="zh-CN" altLang="en-US" sz="2000" dirty="0"/>
              <a:t>教学系统实验箱一套</a:t>
            </a:r>
            <a:endParaRPr lang="en-US" altLang="zh-CN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518474" y="4107625"/>
            <a:ext cx="114818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/>
              <a:t>    单周期 </a:t>
            </a:r>
            <a:r>
              <a:rPr lang="en-US" altLang="zh-CN" sz="2000" dirty="0"/>
              <a:t>CPU </a:t>
            </a:r>
            <a:r>
              <a:rPr lang="zh-CN" altLang="en-US" sz="2000" dirty="0"/>
              <a:t>就是在 </a:t>
            </a:r>
            <a:r>
              <a:rPr lang="en-US" altLang="zh-CN" sz="2000" dirty="0"/>
              <a:t>1 </a:t>
            </a:r>
            <a:r>
              <a:rPr lang="zh-CN" altLang="en-US" sz="2000" dirty="0"/>
              <a:t>个 </a:t>
            </a:r>
            <a:r>
              <a:rPr lang="en-US" altLang="zh-CN" sz="2000" dirty="0"/>
              <a:t>CPU </a:t>
            </a:r>
            <a:r>
              <a:rPr lang="zh-CN" altLang="en-US" sz="2000" dirty="0"/>
              <a:t>周期内执行完一条指令，执行指令所需的微</a:t>
            </a:r>
            <a:r>
              <a:rPr lang="zh-CN" altLang="en-US" sz="2000" dirty="0" smtClean="0"/>
              <a:t>操作由控 </a:t>
            </a:r>
            <a:r>
              <a:rPr lang="zh-CN" altLang="en-US" sz="2000" dirty="0"/>
              <a:t>制器产生，结构简单，容易</a:t>
            </a:r>
            <a:r>
              <a:rPr lang="zh-CN" altLang="en-US" sz="2000" dirty="0" smtClean="0"/>
              <a:t>设计。</a:t>
            </a:r>
            <a:r>
              <a:rPr lang="zh-CN" altLang="en-US" sz="2000" dirty="0"/>
              <a:t>指令系统可包括如下指令类型： </a:t>
            </a:r>
            <a:endParaRPr lang="en-US" altLang="zh-CN" sz="2000" dirty="0" smtClean="0"/>
          </a:p>
          <a:p>
            <a:r>
              <a:rPr lang="zh-CN" altLang="en-US" sz="2000" dirty="0" smtClean="0"/>
              <a:t>    运算</a:t>
            </a:r>
            <a:r>
              <a:rPr lang="zh-CN" altLang="en-US" sz="2000" dirty="0"/>
              <a:t>类指令：算术运算、逻辑运算、移位运算，如 </a:t>
            </a:r>
            <a:r>
              <a:rPr lang="en-US" altLang="zh-CN" sz="2000" dirty="0"/>
              <a:t>ADD 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SUB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AND</a:t>
            </a:r>
            <a:r>
              <a:rPr lang="zh-CN" altLang="en-US" sz="2000" dirty="0"/>
              <a:t>、</a:t>
            </a:r>
            <a:r>
              <a:rPr lang="en-US" altLang="zh-CN" sz="2000" dirty="0"/>
              <a:t>NOT </a:t>
            </a:r>
            <a:r>
              <a:rPr lang="zh-CN" altLang="en-US" sz="2000" dirty="0"/>
              <a:t>、 </a:t>
            </a:r>
            <a:r>
              <a:rPr lang="en-US" altLang="zh-CN" sz="2000" dirty="0"/>
              <a:t>SLL</a:t>
            </a:r>
            <a:r>
              <a:rPr lang="zh-CN" altLang="en-US" sz="2000" dirty="0"/>
              <a:t>、</a:t>
            </a:r>
            <a:r>
              <a:rPr lang="en-US" altLang="zh-CN" sz="2000" dirty="0" smtClean="0"/>
              <a:t>SRL</a:t>
            </a:r>
            <a:r>
              <a:rPr lang="zh-CN" altLang="en-US" sz="2000" dirty="0" smtClean="0"/>
              <a:t>等等。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</a:t>
            </a:r>
            <a:r>
              <a:rPr lang="zh-CN" altLang="en-US" sz="2000" dirty="0"/>
              <a:t>传送类指令：寄存器之间的传送</a:t>
            </a:r>
            <a:r>
              <a:rPr lang="zh-CN" altLang="en-US" sz="2000" dirty="0" smtClean="0"/>
              <a:t>、立即</a:t>
            </a:r>
            <a:r>
              <a:rPr lang="zh-CN" altLang="en-US" sz="2000" dirty="0"/>
              <a:t>数传送，如 </a:t>
            </a:r>
            <a:r>
              <a:rPr lang="en-US" altLang="zh-CN" sz="2000" dirty="0"/>
              <a:t>MOVZ</a:t>
            </a:r>
            <a:r>
              <a:rPr lang="zh-CN" altLang="en-US" sz="2000" dirty="0"/>
              <a:t>、</a:t>
            </a:r>
            <a:r>
              <a:rPr lang="en-US" altLang="zh-CN" sz="2000" dirty="0"/>
              <a:t>MOVN</a:t>
            </a:r>
            <a:r>
              <a:rPr lang="zh-CN" altLang="en-US" sz="2000" dirty="0"/>
              <a:t>、</a:t>
            </a:r>
            <a:r>
              <a:rPr lang="en-US" altLang="zh-CN" sz="2000" dirty="0"/>
              <a:t>MFHI </a:t>
            </a:r>
            <a:r>
              <a:rPr lang="zh-CN" altLang="en-US" sz="2000" dirty="0"/>
              <a:t>等等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 访存</a:t>
            </a:r>
            <a:r>
              <a:rPr lang="zh-CN" altLang="en-US" sz="2000" dirty="0"/>
              <a:t>类指令：读存储器指令、写存储器指令，如 </a:t>
            </a:r>
            <a:r>
              <a:rPr lang="en-US" altLang="zh-CN" sz="2000" dirty="0"/>
              <a:t>LB</a:t>
            </a:r>
            <a:r>
              <a:rPr lang="zh-CN" altLang="en-US" sz="2000" dirty="0"/>
              <a:t>、</a:t>
            </a:r>
            <a:r>
              <a:rPr lang="en-US" altLang="zh-CN" sz="2000" dirty="0"/>
              <a:t>LW</a:t>
            </a:r>
            <a:r>
              <a:rPr lang="zh-CN" altLang="en-US" sz="2000" dirty="0"/>
              <a:t>、</a:t>
            </a:r>
            <a:r>
              <a:rPr lang="en-US" altLang="zh-CN" sz="2000" dirty="0"/>
              <a:t>SB</a:t>
            </a:r>
            <a:r>
              <a:rPr lang="zh-CN" altLang="en-US" sz="2000" dirty="0"/>
              <a:t>、</a:t>
            </a:r>
            <a:r>
              <a:rPr lang="en-US" altLang="zh-CN" sz="2000" dirty="0"/>
              <a:t>SW </a:t>
            </a:r>
            <a:r>
              <a:rPr lang="zh-CN" altLang="en-US" sz="2000" dirty="0"/>
              <a:t>等等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   控制</a:t>
            </a:r>
            <a:r>
              <a:rPr lang="zh-CN" altLang="en-US" sz="2000" dirty="0"/>
              <a:t>类指令：无条件转移、有条件转移，如 </a:t>
            </a:r>
            <a:r>
              <a:rPr lang="en-US" altLang="zh-CN" sz="2000" dirty="0"/>
              <a:t>J</a:t>
            </a:r>
            <a:r>
              <a:rPr lang="zh-CN" altLang="en-US" sz="2000" dirty="0"/>
              <a:t>、</a:t>
            </a:r>
            <a:r>
              <a:rPr lang="en-US" altLang="zh-CN" sz="2000" dirty="0"/>
              <a:t>JR</a:t>
            </a:r>
            <a:r>
              <a:rPr lang="zh-CN" altLang="en-US" sz="2000" dirty="0"/>
              <a:t>、</a:t>
            </a:r>
            <a:r>
              <a:rPr lang="en-US" altLang="zh-CN" sz="2000" dirty="0"/>
              <a:t>JAL</a:t>
            </a:r>
            <a:r>
              <a:rPr lang="zh-CN" altLang="en-US" sz="2000" dirty="0"/>
              <a:t>、</a:t>
            </a:r>
            <a:r>
              <a:rPr lang="en-US" altLang="zh-CN" sz="2000" dirty="0"/>
              <a:t>BEQ </a:t>
            </a:r>
            <a:r>
              <a:rPr lang="zh-CN" altLang="en-US" sz="2000" dirty="0"/>
              <a:t>等等。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6590" y="297383"/>
            <a:ext cx="11238807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     设计</a:t>
            </a:r>
            <a:r>
              <a:rPr lang="zh-CN" altLang="en-US" sz="2400" dirty="0"/>
              <a:t>中所有寄存 器和存储器都是异步读同步写的，即读出数据不需要时钟控制，但写入数据需时钟控 制。 故单周期 </a:t>
            </a:r>
            <a:r>
              <a:rPr lang="en-US" altLang="zh-CN" sz="2400" dirty="0"/>
              <a:t>CPU </a:t>
            </a:r>
            <a:r>
              <a:rPr lang="zh-CN" altLang="en-US" sz="2400" dirty="0"/>
              <a:t>的运作即：在一个时钟周期内，根据 </a:t>
            </a:r>
            <a:r>
              <a:rPr lang="en-US" altLang="zh-CN" sz="2400" dirty="0"/>
              <a:t>PC </a:t>
            </a:r>
            <a:r>
              <a:rPr lang="zh-CN" altLang="en-US" sz="2400" dirty="0"/>
              <a:t>值从指令 </a:t>
            </a:r>
            <a:r>
              <a:rPr lang="en-US" altLang="zh-CN" sz="2400" dirty="0"/>
              <a:t>ROM </a:t>
            </a:r>
            <a:r>
              <a:rPr lang="zh-CN" altLang="en-US" sz="2400" dirty="0"/>
              <a:t>中读出相应的 指令，将指令译码后从寄存器堆中读出需要的操作数，送往 </a:t>
            </a:r>
            <a:r>
              <a:rPr lang="en-US" altLang="zh-CN" sz="2400" dirty="0"/>
              <a:t>ALU </a:t>
            </a:r>
            <a:r>
              <a:rPr lang="zh-CN" altLang="en-US" sz="2400" dirty="0"/>
              <a:t>模块，</a:t>
            </a:r>
            <a:r>
              <a:rPr lang="en-US" altLang="zh-CN" sz="2400" dirty="0"/>
              <a:t>ALU </a:t>
            </a:r>
            <a:r>
              <a:rPr lang="zh-CN" altLang="en-US" sz="2400" dirty="0"/>
              <a:t>模块运算 得到结果。 如果是 </a:t>
            </a:r>
            <a:r>
              <a:rPr lang="en-US" altLang="zh-CN" sz="2400" dirty="0"/>
              <a:t>store </a:t>
            </a:r>
            <a:r>
              <a:rPr lang="zh-CN" altLang="en-US" sz="2400" dirty="0"/>
              <a:t>指令，则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运算结果为数据存储的地址，就向数据 </a:t>
            </a:r>
            <a:r>
              <a:rPr lang="en-US" altLang="zh-CN" sz="2400" dirty="0"/>
              <a:t>RAM </a:t>
            </a:r>
            <a:r>
              <a:rPr lang="zh-CN" altLang="en-US" sz="2400" dirty="0"/>
              <a:t>发出写请 求，在下一个时钟上升沿真正写入到数据存储器。 如果是 </a:t>
            </a:r>
            <a:r>
              <a:rPr lang="en-US" altLang="zh-CN" sz="2400" dirty="0"/>
              <a:t>load </a:t>
            </a:r>
            <a:r>
              <a:rPr lang="zh-CN" altLang="en-US" sz="2400" dirty="0"/>
              <a:t>指令，则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运算结果为数据存储的地址，根据该值从数据存 </a:t>
            </a:r>
            <a:r>
              <a:rPr lang="en-US" altLang="zh-CN" sz="2400" dirty="0"/>
              <a:t>RAM </a:t>
            </a:r>
            <a:r>
              <a:rPr lang="zh-CN" altLang="en-US" sz="2400" dirty="0"/>
              <a:t>中 读出数据，送往寄存器</a:t>
            </a:r>
            <a:r>
              <a:rPr lang="zh-CN" altLang="en-US" sz="2400" dirty="0" smtClean="0"/>
              <a:t>堆，根据</a:t>
            </a:r>
            <a:r>
              <a:rPr lang="zh-CN" altLang="en-US" sz="2400" dirty="0"/>
              <a:t>目的寄存器发出写请求，在下一个时钟上升沿真正写入 到寄存器堆中。 如果非 </a:t>
            </a:r>
            <a:r>
              <a:rPr lang="en-US" altLang="zh-CN" sz="2400" dirty="0"/>
              <a:t>load/store </a:t>
            </a:r>
            <a:r>
              <a:rPr lang="zh-CN" altLang="en-US" sz="2400" dirty="0"/>
              <a:t>操作，若有写寄存器堆的操作，则直接将 </a:t>
            </a:r>
            <a:r>
              <a:rPr lang="en-US" altLang="zh-CN" sz="2400" dirty="0"/>
              <a:t>ALU </a:t>
            </a:r>
            <a:r>
              <a:rPr lang="zh-CN" altLang="en-US" sz="2400" dirty="0"/>
              <a:t>运算结果送往</a:t>
            </a:r>
            <a:r>
              <a:rPr lang="zh-CN" altLang="en-US" sz="2400" dirty="0" smtClean="0"/>
              <a:t>寄存器堆，根据</a:t>
            </a:r>
            <a:r>
              <a:rPr lang="zh-CN" altLang="en-US" sz="2400" dirty="0"/>
              <a:t>目的寄存器发出写请求，在下一个时钟上升沿真正写入到寄存器堆中。 如果是分支跳转指令，则是需要将结果写入到 </a:t>
            </a:r>
            <a:r>
              <a:rPr lang="en-US" altLang="zh-CN" sz="2400" dirty="0"/>
              <a:t>pc </a:t>
            </a:r>
            <a:r>
              <a:rPr lang="zh-CN" altLang="en-US" sz="2400" dirty="0"/>
              <a:t>寄存器中的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    </a:t>
            </a:r>
            <a:r>
              <a:rPr lang="zh-CN" altLang="en-US" sz="2400" b="1" dirty="0" smtClean="0"/>
              <a:t>本</a:t>
            </a:r>
            <a:r>
              <a:rPr lang="zh-CN" altLang="en-US" sz="2400" b="1" dirty="0"/>
              <a:t>实验要求</a:t>
            </a:r>
            <a:r>
              <a:rPr lang="zh-CN" altLang="en-US" sz="2400" dirty="0"/>
              <a:t>：</a:t>
            </a:r>
            <a:r>
              <a:rPr lang="zh-CN" altLang="en-US" sz="2400" b="1" dirty="0"/>
              <a:t>根据提供的 </a:t>
            </a:r>
            <a:r>
              <a:rPr lang="en-US" altLang="zh-CN" sz="2400" b="1" dirty="0"/>
              <a:t>32 </a:t>
            </a:r>
            <a:r>
              <a:rPr lang="zh-CN" altLang="en-US" sz="2400" b="1" dirty="0"/>
              <a:t>位 </a:t>
            </a:r>
            <a:r>
              <a:rPr lang="en-US" altLang="zh-CN" sz="2400" b="1" dirty="0"/>
              <a:t>MIPS </a:t>
            </a:r>
            <a:r>
              <a:rPr lang="zh-CN" altLang="en-US" sz="2400" b="1" dirty="0"/>
              <a:t>框架</a:t>
            </a:r>
            <a:r>
              <a:rPr lang="zh-CN" altLang="en-US" sz="2400" b="1" dirty="0" smtClean="0"/>
              <a:t>，至少调试</a:t>
            </a:r>
            <a:r>
              <a:rPr lang="zh-CN" altLang="en-US" sz="2400" b="1" dirty="0"/>
              <a:t>出 </a:t>
            </a:r>
            <a:r>
              <a:rPr lang="en-US" altLang="zh-CN" sz="2400" b="1" dirty="0"/>
              <a:t>5 </a:t>
            </a:r>
            <a:r>
              <a:rPr lang="zh-CN" altLang="en-US" sz="2400" b="1" dirty="0"/>
              <a:t>条不同类型的指令（运算类、传送类、访存类、 控制转移类等）的运行仿真波形，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不需要上板。对提供的代码只需将</a:t>
            </a:r>
            <a:r>
              <a:rPr lang="en-US" altLang="zh-CN" sz="2400" b="1" dirty="0"/>
              <a:t>inst_rom.v</a:t>
            </a:r>
            <a:r>
              <a:rPr lang="zh-CN" altLang="en-US" sz="2400" b="1" dirty="0"/>
              <a:t>文件补充完整，选取自己准备实现的指令，</a:t>
            </a:r>
            <a:r>
              <a:rPr lang="zh-CN" altLang="en-US" sz="2400" b="1" u="sng" dirty="0"/>
              <a:t>验收时不接受完全相同的指令</a:t>
            </a:r>
            <a:r>
              <a:rPr lang="zh-CN" altLang="en-US" sz="2400" b="1" dirty="0"/>
              <a:t>，另外根据选用的寄存器不同，完成对仿真文件</a:t>
            </a:r>
            <a:r>
              <a:rPr lang="en-US" altLang="zh-CN" sz="2400" b="1" dirty="0"/>
              <a:t>tb.v</a:t>
            </a:r>
            <a:r>
              <a:rPr lang="zh-CN" altLang="en-US" sz="2400" b="1" dirty="0"/>
              <a:t>的修改。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7862" y="416778"/>
            <a:ext cx="10798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指令格式：按 </a:t>
            </a:r>
            <a:r>
              <a:rPr lang="en-US" altLang="zh-CN" dirty="0"/>
              <a:t>32 </a:t>
            </a:r>
            <a:r>
              <a:rPr lang="zh-CN" altLang="en-US" dirty="0"/>
              <a:t>位 </a:t>
            </a:r>
            <a:r>
              <a:rPr lang="en-US" altLang="zh-CN" dirty="0"/>
              <a:t>MIPSCPU </a:t>
            </a:r>
            <a:r>
              <a:rPr lang="zh-CN" altLang="en-US" dirty="0"/>
              <a:t>的指令格式</a:t>
            </a:r>
            <a:r>
              <a:rPr lang="en-US" altLang="zh-CN" dirty="0"/>
              <a:t>(</a:t>
            </a:r>
            <a:r>
              <a:rPr lang="zh-CN" altLang="en-US" dirty="0"/>
              <a:t>参考 </a:t>
            </a:r>
            <a:r>
              <a:rPr lang="en-US" altLang="zh-CN" dirty="0"/>
              <a:t>32 </a:t>
            </a:r>
            <a:r>
              <a:rPr lang="zh-CN" altLang="en-US" dirty="0"/>
              <a:t>位 </a:t>
            </a:r>
            <a:r>
              <a:rPr lang="en-US" altLang="zh-CN" dirty="0"/>
              <a:t>MIPSCPU </a:t>
            </a:r>
            <a:r>
              <a:rPr lang="zh-CN" altLang="en-US" dirty="0"/>
              <a:t>指令集规范</a:t>
            </a:r>
            <a:r>
              <a:rPr lang="en-US" altLang="zh-CN" dirty="0"/>
              <a:t>) </a:t>
            </a:r>
            <a:r>
              <a:rPr lang="zh-CN" altLang="en-US" dirty="0"/>
              <a:t>如：</a:t>
            </a:r>
            <a:r>
              <a:rPr lang="en-US" altLang="zh-CN" dirty="0"/>
              <a:t>MIPS32 </a:t>
            </a:r>
            <a:r>
              <a:rPr lang="zh-CN" altLang="en-US" dirty="0"/>
              <a:t>指令的三种格式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en-US" altLang="zh-CN" dirty="0"/>
              <a:t>R </a:t>
            </a:r>
            <a:r>
              <a:rPr lang="zh-CN" altLang="en-US" dirty="0"/>
              <a:t>类型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74722" y="826365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20-16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15-11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10-6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sa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func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52729" y="1706857"/>
            <a:ext cx="990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I </a:t>
            </a:r>
            <a:r>
              <a:rPr lang="zh-CN" altLang="en-US" dirty="0"/>
              <a:t>类型：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74722" y="172732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20-16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immediate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52729" y="2628291"/>
            <a:ext cx="102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J </a:t>
            </a:r>
            <a:r>
              <a:rPr lang="zh-CN" altLang="en-US" dirty="0"/>
              <a:t>类型：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74722" y="262829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31-26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25-0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address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13360" y="3529254"/>
            <a:ext cx="116241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其中， </a:t>
            </a:r>
            <a:r>
              <a:rPr lang="en-US" altLang="zh-CN" sz="2000" dirty="0"/>
              <a:t>op</a:t>
            </a:r>
            <a:r>
              <a:rPr lang="zh-CN" altLang="en-US" sz="2000" dirty="0"/>
              <a:t>：为操作码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rs</a:t>
            </a:r>
            <a:r>
              <a:rPr lang="zh-CN" altLang="en-US" sz="2000" dirty="0"/>
              <a:t>：为第 </a:t>
            </a:r>
            <a:r>
              <a:rPr lang="en-US" altLang="zh-CN" sz="2000" dirty="0"/>
              <a:t>1 </a:t>
            </a:r>
            <a:r>
              <a:rPr lang="zh-CN" altLang="en-US" sz="2000" dirty="0"/>
              <a:t>个源操作数寄存器，寄存器地址（编号）是 </a:t>
            </a:r>
            <a:r>
              <a:rPr lang="en-US" altLang="zh-CN" sz="2000" dirty="0"/>
              <a:t>00000~11111</a:t>
            </a:r>
            <a:r>
              <a:rPr lang="zh-CN" altLang="en-US" sz="2000" dirty="0"/>
              <a:t>，</a:t>
            </a:r>
            <a:r>
              <a:rPr lang="en-US" altLang="zh-CN" sz="2000" dirty="0"/>
              <a:t>00~1F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rt</a:t>
            </a:r>
            <a:r>
              <a:rPr lang="zh-CN" altLang="en-US" sz="2000" dirty="0"/>
              <a:t>：为第 </a:t>
            </a:r>
            <a:r>
              <a:rPr lang="en-US" altLang="zh-CN" sz="2000" dirty="0"/>
              <a:t>2 </a:t>
            </a:r>
            <a:r>
              <a:rPr lang="zh-CN" altLang="en-US" sz="2000" dirty="0"/>
              <a:t>个源操作数寄存器，或目的操作数寄存器，寄存器地址（同上）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rd</a:t>
            </a:r>
            <a:r>
              <a:rPr lang="zh-CN" altLang="en-US" sz="2000" dirty="0"/>
              <a:t>：为目的操作数寄存器，寄存器地址（同上）； </a:t>
            </a:r>
            <a:endParaRPr lang="en-US" altLang="zh-CN" sz="2000" dirty="0" smtClean="0"/>
          </a:p>
          <a:p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sa</a:t>
            </a:r>
            <a:r>
              <a:rPr lang="zh-CN" altLang="en-US" sz="2000" dirty="0"/>
              <a:t>：为位移量（</a:t>
            </a:r>
            <a:r>
              <a:rPr lang="en-US" altLang="zh-CN" sz="2000" dirty="0"/>
              <a:t>shift </a:t>
            </a:r>
            <a:r>
              <a:rPr lang="en-US" altLang="zh-CN" sz="2000" dirty="0" err="1"/>
              <a:t>amt</a:t>
            </a:r>
            <a:r>
              <a:rPr lang="zh-CN" altLang="en-US" sz="2000" dirty="0"/>
              <a:t>），移位指令用于指定移多少位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 err="1"/>
              <a:t>func</a:t>
            </a:r>
            <a:r>
              <a:rPr lang="zh-CN" altLang="en-US" sz="2000" dirty="0"/>
              <a:t>：为功能码，在寄存器类型指令中（</a:t>
            </a:r>
            <a:r>
              <a:rPr lang="en-US" altLang="zh-CN" sz="2000" dirty="0"/>
              <a:t>R </a:t>
            </a:r>
            <a:r>
              <a:rPr lang="zh-CN" altLang="en-US" sz="2000" dirty="0"/>
              <a:t>类型）用来指定指令的功能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r>
              <a:rPr lang="zh-CN" altLang="en-US" sz="2000" dirty="0" smtClean="0"/>
              <a:t> </a:t>
            </a:r>
            <a:r>
              <a:rPr lang="en-US" altLang="zh-CN" sz="2000" dirty="0"/>
              <a:t>immediate</a:t>
            </a:r>
            <a:r>
              <a:rPr lang="zh-CN" altLang="en-US" sz="2000" dirty="0"/>
              <a:t>：为 </a:t>
            </a:r>
            <a:r>
              <a:rPr lang="en-US" altLang="zh-CN" sz="2000" dirty="0"/>
              <a:t>16 </a:t>
            </a:r>
            <a:r>
              <a:rPr lang="zh-CN" altLang="en-US" sz="2000" dirty="0"/>
              <a:t>位立即数，用作无符号的逻辑操作数、有符号的算术操作数、数据加载（</a:t>
            </a:r>
            <a:r>
              <a:rPr lang="en-US" altLang="zh-CN" sz="2000" dirty="0" err="1"/>
              <a:t>Laod</a:t>
            </a:r>
            <a:r>
              <a:rPr lang="zh-CN" altLang="en-US" sz="2000" dirty="0"/>
              <a:t>）</a:t>
            </a:r>
            <a:r>
              <a:rPr lang="en-US" altLang="zh-CN" sz="2000" dirty="0"/>
              <a:t>/ </a:t>
            </a:r>
            <a:r>
              <a:rPr lang="zh-CN" altLang="en-US" sz="2000" dirty="0"/>
              <a:t>数据保存（</a:t>
            </a:r>
            <a:r>
              <a:rPr lang="en-US" altLang="zh-CN" sz="2000" dirty="0"/>
              <a:t>Store</a:t>
            </a:r>
            <a:r>
              <a:rPr lang="zh-CN" altLang="en-US" sz="2000" dirty="0"/>
              <a:t>）指令的数据地址字节偏移量和分支指令中相对程序计数器（</a:t>
            </a:r>
            <a:r>
              <a:rPr lang="en-US" altLang="zh-CN" sz="2000" dirty="0"/>
              <a:t>PC</a:t>
            </a:r>
            <a:r>
              <a:rPr lang="zh-CN" altLang="en-US" sz="2000" dirty="0"/>
              <a:t>）的有符号偏移量； </a:t>
            </a:r>
            <a:endParaRPr lang="en-US" altLang="zh-CN" sz="2000" dirty="0" smtClean="0"/>
          </a:p>
          <a:p>
            <a:r>
              <a:rPr lang="en-US" altLang="zh-CN" sz="2000" dirty="0" smtClean="0"/>
              <a:t>address</a:t>
            </a:r>
            <a:r>
              <a:rPr lang="zh-CN" altLang="en-US" sz="2000" dirty="0"/>
              <a:t>：为地址。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7638" y="487895"/>
            <a:ext cx="11344406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运算类指令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    add </a:t>
            </a:r>
            <a:r>
              <a:rPr lang="en-US" altLang="zh-CN" sz="2000" dirty="0" err="1"/>
              <a:t>rd</a:t>
            </a:r>
            <a:r>
              <a:rPr lang="en-US" altLang="zh-CN" sz="2000" dirty="0"/>
              <a:t> , 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 </a:t>
            </a:r>
            <a:r>
              <a:rPr lang="zh-CN" altLang="en-US" sz="2000" dirty="0"/>
              <a:t>（说明：以助记符表示，是汇编指令；以代码表示，是机器指令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zh-CN" altLang="en-US" sz="2000" dirty="0" smtClean="0"/>
              <a:t>         功能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rd←rs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rt</a:t>
            </a:r>
            <a:r>
              <a:rPr lang="zh-CN" altLang="en-US" sz="2000" dirty="0"/>
              <a:t>。。</a:t>
            </a:r>
            <a:endParaRPr lang="zh-CN" altLang="en-US" sz="2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93190" y="1596390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5"/>
                <a:gridCol w="1109980"/>
                <a:gridCol w="1329055"/>
                <a:gridCol w="961390"/>
                <a:gridCol w="1921510"/>
                <a:gridCol w="17043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000000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00000</a:t>
                      </a: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sa</a:t>
                      </a:r>
                      <a:r>
                        <a:rPr lang="zh-CN" altLang="en-US" sz="2000" dirty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+mn-ea"/>
                          <a:sym typeface="+mn-ea"/>
                        </a:rPr>
                        <a:t>100001</a:t>
                      </a:r>
                      <a:endParaRPr lang="en-US" altLang="zh-CN" sz="2000" dirty="0">
                        <a:latin typeface="+mn-ea"/>
                        <a:ea typeface="+mn-ea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67212" y="2086881"/>
            <a:ext cx="10819652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存储器读</a:t>
            </a:r>
            <a:r>
              <a:rPr lang="en-US" altLang="zh-CN" sz="2000" dirty="0"/>
              <a:t>/</a:t>
            </a:r>
            <a:r>
              <a:rPr lang="zh-CN" altLang="en-US" sz="2000" dirty="0"/>
              <a:t>写指令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 </a:t>
            </a:r>
            <a:r>
              <a:rPr lang="en-US" altLang="zh-CN" sz="2000" dirty="0" err="1" smtClean="0"/>
              <a:t>sw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 ,immediate(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) </a:t>
            </a:r>
            <a:r>
              <a:rPr lang="zh-CN" altLang="en-US" sz="2000" dirty="0"/>
              <a:t>写</a:t>
            </a:r>
            <a:r>
              <a:rPr lang="zh-CN" altLang="en-US" sz="2000" dirty="0" smtClean="0"/>
              <a:t>存储器</a:t>
            </a:r>
            <a:endParaRPr lang="en-US" altLang="zh-CN" sz="2000" dirty="0" smtClean="0"/>
          </a:p>
          <a:p>
            <a:r>
              <a:rPr lang="zh-CN" altLang="en-US" sz="2000" dirty="0" smtClean="0"/>
              <a:t>       功能</a:t>
            </a:r>
            <a:r>
              <a:rPr lang="zh-CN" altLang="en-US" sz="2000" dirty="0"/>
              <a:t>：</a:t>
            </a:r>
            <a:r>
              <a:rPr lang="en-US" altLang="zh-CN" sz="2000" dirty="0"/>
              <a:t>memory[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+ (sign-extend)immediate]←</a:t>
            </a:r>
            <a:r>
              <a:rPr lang="en-US" altLang="zh-CN" sz="2000" dirty="0" err="1"/>
              <a:t>rs</a:t>
            </a:r>
            <a:r>
              <a:rPr lang="zh-CN" altLang="en-US" sz="2000" dirty="0"/>
              <a:t>；</a:t>
            </a:r>
            <a:r>
              <a:rPr lang="en-US" altLang="zh-CN" sz="2000" dirty="0"/>
              <a:t>immediate </a:t>
            </a:r>
            <a:r>
              <a:rPr lang="zh-CN" altLang="en-US" sz="2000" dirty="0"/>
              <a:t>符号扩展再相加。</a:t>
            </a:r>
            <a:endParaRPr lang="zh-CN" altLang="en-US" sz="20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93173" y="3232591"/>
          <a:ext cx="8128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160"/>
                <a:gridCol w="1202055"/>
                <a:gridCol w="1419860"/>
                <a:gridCol w="39719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101011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immediate(16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67452" y="3880163"/>
            <a:ext cx="67553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分支指令 </a:t>
            </a:r>
            <a:endParaRPr lang="en-US" altLang="zh-CN" sz="2000" dirty="0" smtClean="0"/>
          </a:p>
          <a:p>
            <a:r>
              <a:rPr lang="en-US" altLang="zh-CN" sz="2000" dirty="0" smtClean="0"/>
              <a:t>      </a:t>
            </a:r>
            <a:r>
              <a:rPr lang="en-US" altLang="zh-CN" sz="2000" dirty="0" err="1" smtClean="0"/>
              <a:t>beq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rs,rt,immediate</a:t>
            </a:r>
            <a:endParaRPr lang="en-US" altLang="zh-CN" sz="2000" dirty="0" smtClean="0"/>
          </a:p>
          <a:p>
            <a:r>
              <a:rPr lang="zh-CN" altLang="en-US" sz="2000" dirty="0" smtClean="0"/>
              <a:t>     功能</a:t>
            </a:r>
            <a:r>
              <a:rPr lang="zh-CN" altLang="en-US" sz="2000" dirty="0"/>
              <a:t>：</a:t>
            </a:r>
            <a:r>
              <a:rPr lang="en-US" altLang="zh-CN" sz="2000" dirty="0"/>
              <a:t>if(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=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) </a:t>
            </a:r>
            <a:r>
              <a:rPr lang="en-US" altLang="zh-CN" sz="2000" dirty="0" err="1"/>
              <a:t>pc←pc</a:t>
            </a:r>
            <a:r>
              <a:rPr lang="en-US" altLang="zh-CN" sz="2000" dirty="0"/>
              <a:t> + 4 + (sign-extend)immediate &lt;&lt;2</a:t>
            </a:r>
            <a:r>
              <a:rPr lang="zh-CN" altLang="en-US" sz="2000" dirty="0"/>
              <a:t>；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541763" y="5146799"/>
          <a:ext cx="8128000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397"/>
                <a:gridCol w="1314450"/>
                <a:gridCol w="1446530"/>
                <a:gridCol w="4079623"/>
              </a:tblGrid>
              <a:tr h="405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ea"/>
                          <a:ea typeface="+mn-ea"/>
                        </a:rPr>
                        <a:t>000100</a:t>
                      </a:r>
                      <a:endParaRPr lang="en-US" altLang="zh-CN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 smtClean="0"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immediate(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位移量，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2000" dirty="0" smtClean="0"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000" dirty="0" smtClean="0"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7597" y="325770"/>
            <a:ext cx="53190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数据通路 ：单周期 </a:t>
            </a:r>
            <a:r>
              <a:rPr lang="en-US" altLang="zh-CN" sz="2000" dirty="0"/>
              <a:t>32 </a:t>
            </a:r>
            <a:r>
              <a:rPr lang="zh-CN" altLang="en-US" sz="2000" dirty="0"/>
              <a:t>位 </a:t>
            </a:r>
            <a:r>
              <a:rPr lang="en-US" altLang="zh-CN" sz="2000" dirty="0"/>
              <a:t>MIPSCPU </a:t>
            </a:r>
            <a:r>
              <a:rPr lang="zh-CN" altLang="en-US" sz="2000" dirty="0"/>
              <a:t>的参考如下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273" y="939943"/>
            <a:ext cx="8180780" cy="55109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启动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，选择</a:t>
            </a:r>
            <a:r>
              <a:rPr lang="en-US" altLang="zh-CN" sz="2400" dirty="0"/>
              <a:t>File-&gt;New Project</a:t>
            </a:r>
            <a:r>
              <a:rPr lang="zh-CN" altLang="en-US" sz="2400" dirty="0"/>
              <a:t>，输入工程名称，选择工程文件的路径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、选择</a:t>
            </a:r>
            <a:r>
              <a:rPr lang="en-US" altLang="zh-CN" sz="2400" dirty="0"/>
              <a:t>RTL Project</a:t>
            </a:r>
            <a:r>
              <a:rPr lang="zh-CN" altLang="en-US" sz="2400" dirty="0"/>
              <a:t>，勾选</a:t>
            </a:r>
            <a:r>
              <a:rPr lang="en-US" altLang="zh-CN" sz="2400" dirty="0"/>
              <a:t>Do not specify sources at this time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、在筛选器中进行如下选择：</a:t>
            </a:r>
            <a:endParaRPr lang="en-US" altLang="zh-CN" sz="2400" dirty="0"/>
          </a:p>
          <a:p>
            <a:r>
              <a:rPr lang="en-US" altLang="zh-CN" sz="2400" dirty="0"/>
              <a:t>   family-&gt;Artix7 package-&gt;fbg676  </a:t>
            </a:r>
            <a:r>
              <a:rPr lang="zh-CN" altLang="en-US" sz="2400" dirty="0"/>
              <a:t>最后选择型号</a:t>
            </a:r>
            <a:r>
              <a:rPr lang="en-US" altLang="zh-CN" sz="2400" dirty="0"/>
              <a:t>xc7a200tfbg676-2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、添加源文件</a:t>
            </a:r>
            <a:r>
              <a:rPr lang="en-US" altLang="zh-CN" sz="2400" dirty="0"/>
              <a:t>Project Manager-&gt;Add sources-&gt;Add or create design sources</a:t>
            </a:r>
            <a:endParaRPr lang="en-US" altLang="zh-CN" sz="2400" dirty="0"/>
          </a:p>
          <a:p>
            <a:r>
              <a:rPr lang="en-US" altLang="zh-CN" sz="2400" dirty="0"/>
              <a:t>    -&gt;Create File,</a:t>
            </a:r>
            <a:r>
              <a:rPr lang="zh-CN" altLang="en-US" sz="2400" dirty="0"/>
              <a:t>开始输入程序代码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对设计文件进行仿真，通过输入激励信号，查看仿真后的输出信号，判断是否符合设计 要求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250190" y="4605020"/>
            <a:ext cx="11028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五、记录实验结果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六、撰写实验报告</a:t>
            </a:r>
            <a:r>
              <a:rPr lang="zh-CN" altLang="en-US" sz="2400" dirty="0">
                <a:sym typeface="+mn-ea"/>
              </a:rPr>
              <a:t>（实验目的、实验设备、实验内容、实验步骤、实验验证程序、选取指令功能、实验结果</a:t>
            </a:r>
            <a:r>
              <a:rPr lang="zh-CN" altLang="en-US" sz="2400" dirty="0">
                <a:sym typeface="+mn-ea"/>
              </a:rPr>
              <a:t>（仿真波形照片）</a:t>
            </a:r>
            <a:r>
              <a:rPr lang="zh-CN" altLang="en-US" sz="2400" dirty="0">
                <a:sym typeface="+mn-ea"/>
              </a:rPr>
              <a:t>、实验心得）</a:t>
            </a:r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0*31"/>
  <p:tag name="TABLE_ENDDRAG_RECT" val="109*125*640*31"/>
</p:tagLst>
</file>

<file path=ppt/tags/tag2.xml><?xml version="1.0" encoding="utf-8"?>
<p:tagLst xmlns:p="http://schemas.openxmlformats.org/presentationml/2006/main"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2398</Words>
  <Application>WPS 演示</Application>
  <PresentationFormat>宽屏</PresentationFormat>
  <Paragraphs>146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Symbol</vt:lpstr>
      <vt:lpstr>黑体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35</cp:revision>
  <dcterms:created xsi:type="dcterms:W3CDTF">2020-08-31T13:13:00Z</dcterms:created>
  <dcterms:modified xsi:type="dcterms:W3CDTF">2024-11-19T12:06:26Z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F3A1C592A0184F16B6122ADC3A9378FE</vt:lpwstr>
  </property>
  <property fmtid="{D5CDD505-2E9C-101B-9397-08002B2CF9AE}" pid="3" name="KSOProductBuildVer">
    <vt:lpwstr>2052-12.1.0.18912</vt:lpwstr>
  </property>
</Properties>
</file>